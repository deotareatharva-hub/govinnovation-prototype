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png" Type="http://schemas.openxmlformats.org/officeDocument/2006/relationships/image"/><Relationship Id="rId2" Target="../media/image4.jpeg" Type="http://schemas.openxmlformats.org/officeDocument/2006/relationships/image"/><Relationship Id="rId20" Target="../media/image21.png" Type="http://schemas.openxmlformats.org/officeDocument/2006/relationships/image"/><Relationship Id="rId21" Target="../media/image22.png" Type="http://schemas.openxmlformats.org/officeDocument/2006/relationships/image"/><Relationship Id="rId22" Target="../media/image23.png" Type="http://schemas.openxmlformats.org/officeDocument/2006/relationships/image"/><Relationship Id="rId23" Target="../media/image24.png" Type="http://schemas.openxmlformats.org/officeDocument/2006/relationships/image"/><Relationship Id="rId24" Target="../media/image25.png" Type="http://schemas.openxmlformats.org/officeDocument/2006/relationships/image"/><Relationship Id="rId25" Target="../media/image26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https://lazycoder-s-portfolio.onrender.com" TargetMode="External" Type="http://schemas.openxmlformats.org/officeDocument/2006/relationships/hyperlink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svg" Type="http://schemas.openxmlformats.org/officeDocument/2006/relationships/image"/><Relationship Id="rId19" Target="../media/image42.png" Type="http://schemas.openxmlformats.org/officeDocument/2006/relationships/image"/><Relationship Id="rId2" Target="../media/image4.jpeg" Type="http://schemas.openxmlformats.org/officeDocument/2006/relationships/image"/><Relationship Id="rId20" Target="../media/image43.sv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24" Target="../media/image47.svg" Type="http://schemas.openxmlformats.org/officeDocument/2006/relationships/image"/><Relationship Id="rId25" Target="../media/image48.png" Type="http://schemas.openxmlformats.org/officeDocument/2006/relationships/image"/><Relationship Id="rId26" Target="../media/image49.png" Type="http://schemas.openxmlformats.org/officeDocument/2006/relationships/image"/><Relationship Id="rId27" Target="../media/image50.svg" Type="http://schemas.openxmlformats.org/officeDocument/2006/relationships/image"/><Relationship Id="rId28" Target="../media/image51.png" Type="http://schemas.openxmlformats.org/officeDocument/2006/relationships/image"/><Relationship Id="rId29" Target="../media/image52.svg" Type="http://schemas.openxmlformats.org/officeDocument/2006/relationships/image"/><Relationship Id="rId3" Target="../media/image5.png" Type="http://schemas.openxmlformats.org/officeDocument/2006/relationships/image"/><Relationship Id="rId30" Target="../media/image53.png" Type="http://schemas.openxmlformats.org/officeDocument/2006/relationships/image"/><Relationship Id="rId31" Target="../media/image54.svg" Type="http://schemas.openxmlformats.org/officeDocument/2006/relationships/image"/><Relationship Id="rId32" Target="../media/image55.png" Type="http://schemas.openxmlformats.org/officeDocument/2006/relationships/image"/><Relationship Id="rId33" Target="../media/image56.svg" Type="http://schemas.openxmlformats.org/officeDocument/2006/relationships/image"/><Relationship Id="rId34" Target="../media/image57.png" Type="http://schemas.openxmlformats.org/officeDocument/2006/relationships/image"/><Relationship Id="rId35" Target="../media/image58.png" Type="http://schemas.openxmlformats.org/officeDocument/2006/relationships/image"/><Relationship Id="rId36" Target="../media/image59.svg" Type="http://schemas.openxmlformats.org/officeDocument/2006/relationships/image"/><Relationship Id="rId37" Target="../media/image60.png" Type="http://schemas.openxmlformats.org/officeDocument/2006/relationships/image"/><Relationship Id="rId38" Target="../media/image61.png" Type="http://schemas.openxmlformats.org/officeDocument/2006/relationships/image"/><Relationship Id="rId39" Target="../media/image62.svg" Type="http://schemas.openxmlformats.org/officeDocument/2006/relationships/image"/><Relationship Id="rId4" Target="../media/image27.png" Type="http://schemas.openxmlformats.org/officeDocument/2006/relationships/image"/><Relationship Id="rId40" Target="../media/image63.png" Type="http://schemas.openxmlformats.org/officeDocument/2006/relationships/image"/><Relationship Id="rId41" Target="../media/image64.png" Type="http://schemas.openxmlformats.org/officeDocument/2006/relationships/image"/><Relationship Id="rId42" Target="../media/image65.svg" Type="http://schemas.openxmlformats.org/officeDocument/2006/relationships/image"/><Relationship Id="rId43" Target="../media/image66.png" Type="http://schemas.openxmlformats.org/officeDocument/2006/relationships/image"/><Relationship Id="rId44" Target="../media/image67.svg" Type="http://schemas.openxmlformats.org/officeDocument/2006/relationships/image"/><Relationship Id="rId45" Target="../media/image68.png" Type="http://schemas.openxmlformats.org/officeDocument/2006/relationships/image"/><Relationship Id="rId46" Target="../media/image6.png" Type="http://schemas.openxmlformats.org/officeDocument/2006/relationships/image"/><Relationship Id="rId47" Target="https://lazycoder-s-portfolio.onrender.com" TargetMode="External" Type="http://schemas.openxmlformats.org/officeDocument/2006/relationships/hyperlink"/><Relationship Id="rId48" Target="../media/image69.png" Type="http://schemas.openxmlformats.org/officeDocument/2006/relationships/image"/><Relationship Id="rId49" Target="../media/image70.png" Type="http://schemas.openxmlformats.org/officeDocument/2006/relationships/image"/><Relationship Id="rId5" Target="../media/image28.png" Type="http://schemas.openxmlformats.org/officeDocument/2006/relationships/image"/><Relationship Id="rId50" Target="../media/image71.png" Type="http://schemas.openxmlformats.org/officeDocument/2006/relationships/image"/><Relationship Id="rId51" Target="../media/image72.png" Type="http://schemas.openxmlformats.org/officeDocument/2006/relationships/image"/><Relationship Id="rId52" Target="../media/image73.png" Type="http://schemas.openxmlformats.org/officeDocument/2006/relationships/image"/><Relationship Id="rId53" Target="../media/image74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media/image4.jpeg" Type="http://schemas.openxmlformats.org/officeDocument/2006/relationships/image"/><Relationship Id="rId20" Target="../media/image91.png" Type="http://schemas.openxmlformats.org/officeDocument/2006/relationships/image"/><Relationship Id="rId21" Target="../media/image92.svg" Type="http://schemas.openxmlformats.org/officeDocument/2006/relationships/image"/><Relationship Id="rId22" Target="../media/image6.png" Type="http://schemas.openxmlformats.org/officeDocument/2006/relationships/image"/><Relationship Id="rId23" Target="https://lazycoder-s-portfolio.onrender.com" TargetMode="External" Type="http://schemas.openxmlformats.org/officeDocument/2006/relationships/hyperlink"/><Relationship Id="rId3" Target="../media/image5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https://lazycoder-s-portfolio.onrender.com" TargetMode="External" Type="http://schemas.openxmlformats.org/officeDocument/2006/relationships/hyperlink"/><Relationship Id="rId7" Target="../media/image94.jpeg" Type="http://schemas.openxmlformats.org/officeDocument/2006/relationships/image"/><Relationship Id="rId8" Target="../media/image9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lazycoder-s-portfolio.onrender.com" TargetMode="External" Type="http://schemas.openxmlformats.org/officeDocument/2006/relationships/hyperlink"/><Relationship Id="rId11" Target="../media/image98.png" Type="http://schemas.openxmlformats.org/officeDocument/2006/relationships/image"/><Relationship Id="rId12" Target="https://gov-innovation-prototype.vercel.app" TargetMode="External" Type="http://schemas.openxmlformats.org/officeDocument/2006/relationships/hyperlink"/><Relationship Id="rId13" Target="https://msins.in" TargetMode="External" Type="http://schemas.openxmlformats.org/officeDocument/2006/relationships/hyperlink"/><Relationship Id="rId14" Target="https://msins.in" TargetMode="External" Type="http://schemas.openxmlformats.org/officeDocument/2006/relationships/hyperlink"/><Relationship Id="rId15" Target="https://doe.gov.in/manuals?utm_source=chatgpt.com" TargetMode="External" Type="http://schemas.openxmlformats.org/officeDocument/2006/relationships/hyperlink"/><Relationship Id="rId16" Target="https://doe.gov.in/bi-annual-compilationupdation-general-financial-rules-2017-upto-31012026general-financial-rules?utm_source=chatgpt.com" TargetMode="External" Type="http://schemas.openxmlformats.org/officeDocument/2006/relationships/hyperlink"/><Relationship Id="rId17" Target="https://www.startupindia.gov.in/content/sih/en/public_procurement.html?utm_source=chatgpt.com" TargetMode="External" Type="http://schemas.openxmlformats.org/officeDocument/2006/relationships/hyperlink"/><Relationship Id="rId18" Target="https://gem.gov.in" TargetMode="External" Type="http://schemas.openxmlformats.org/officeDocument/2006/relationships/hyperlink"/><Relationship Id="rId19" Target="https://papers.ssrn.com/sol3/papers.cfm?abstract_id=6530078" TargetMode="External" Type="http://schemas.openxmlformats.org/officeDocument/2006/relationships/hyperlink"/><Relationship Id="rId2" Target="../media/image93.png" Type="http://schemas.openxmlformats.org/officeDocument/2006/relationships/image"/><Relationship Id="rId20" Target="https://onlinelibrary.wiley.com/doi/abs/10.1002/pad.2113" TargetMode="External" Type="http://schemas.openxmlformats.org/officeDocument/2006/relationships/hyperlink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96.png" Type="http://schemas.openxmlformats.org/officeDocument/2006/relationships/image"/><Relationship Id="rId6" Target="https://github.com/deotareatharva-hub/GovInnovation-Prototype" TargetMode="External" Type="http://schemas.openxmlformats.org/officeDocument/2006/relationships/hyperlink"/><Relationship Id="rId7" Target="../media/image97.png" Type="http://schemas.openxmlformats.org/officeDocument/2006/relationships/image"/><Relationship Id="rId8" Target="https://docs.google.com/document/d/1Rz0F5dO9EFZV1S-7FZeMsmbT5QkxaS8h/edit?usp=sharing&amp;ouid=113236038995270870263&amp;rtpof=true&amp;sd=true" TargetMode="External" Type="http://schemas.openxmlformats.org/officeDocument/2006/relationships/hyperlink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91175" y="1595752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64905" y="317413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72640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2863725"/>
            <a:ext cx="10740274" cy="568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SIH26136</a:t>
            </a:r>
          </a:p>
          <a:p>
            <a:pPr algn="just" marL="499879" indent="-249940" lvl="1">
              <a:lnSpc>
                <a:spcPts val="3369"/>
              </a:lnSpc>
              <a:buFont typeface="Arial"/>
              <a:buChar char="•"/>
            </a:pPr>
            <a:r>
              <a:rPr lang="en-US" b="true" sz="2762" spc="7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 </a:t>
            </a:r>
            <a:r>
              <a:rPr lang="en-US" sz="2762" spc="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friendly public procurement mechanism that enables government departments to identify,pilot, procure, and scale innovative solutions from eligible startups</a:t>
            </a: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Miscellaneous</a:t>
            </a: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</a:t>
            </a: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ID-</a:t>
            </a:r>
          </a:p>
          <a:p>
            <a:pPr algn="just" marL="499879" indent="-249940" lvl="1">
              <a:lnSpc>
                <a:spcPts val="6629"/>
              </a:lnSpc>
              <a:buFont typeface="Arial"/>
              <a:buChar char="•"/>
            </a:pPr>
            <a:r>
              <a:rPr lang="en-US" b="true" sz="27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LazyCoder’s 2.0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3151" y="1376363"/>
            <a:ext cx="10594001" cy="137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9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234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96007" y="0"/>
            <a:ext cx="2989631" cy="1411647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3" id="13">
            <a:hlinkClick r:id="rId5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713874" y="969468"/>
            <a:ext cx="2958259" cy="1274297"/>
            <a:chOff x="0" y="0"/>
            <a:chExt cx="901221" cy="3882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D1EFF9">
                <a:alpha val="78824"/>
              </a:srgbClr>
            </a:solidFill>
            <a:ln w="66675" cap="rnd">
              <a:solidFill>
                <a:srgbClr val="38B6FF">
                  <a:alpha val="78824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49970" y="1126615"/>
            <a:ext cx="985395" cy="98539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B2FF">
                <a:alpha val="28627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038067" y="1273406"/>
            <a:ext cx="650701" cy="650701"/>
          </a:xfrm>
          <a:custGeom>
            <a:avLst/>
            <a:gdLst/>
            <a:ahLst/>
            <a:cxnLst/>
            <a:rect r="r" b="b" t="t" l="l"/>
            <a:pathLst>
              <a:path h="650701" w="650701">
                <a:moveTo>
                  <a:pt x="0" y="0"/>
                </a:moveTo>
                <a:lnTo>
                  <a:pt x="650701" y="0"/>
                </a:lnTo>
                <a:lnTo>
                  <a:pt x="650701" y="650701"/>
                </a:lnTo>
                <a:lnTo>
                  <a:pt x="0" y="650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556929" y="705823"/>
            <a:ext cx="567583" cy="567583"/>
          </a:xfrm>
          <a:custGeom>
            <a:avLst/>
            <a:gdLst/>
            <a:ahLst/>
            <a:cxnLst/>
            <a:rect r="r" b="b" t="t" l="l"/>
            <a:pathLst>
              <a:path h="567583" w="567583">
                <a:moveTo>
                  <a:pt x="0" y="0"/>
                </a:moveTo>
                <a:lnTo>
                  <a:pt x="567583" y="0"/>
                </a:lnTo>
                <a:lnTo>
                  <a:pt x="567583" y="567583"/>
                </a:lnTo>
                <a:lnTo>
                  <a:pt x="0" y="5675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944325" y="1889028"/>
            <a:ext cx="2958259" cy="1274297"/>
            <a:chOff x="0" y="0"/>
            <a:chExt cx="901221" cy="3882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FF5757">
                <a:alpha val="24706"/>
              </a:srgbClr>
            </a:solidFill>
            <a:ln w="66675" cap="rnd">
              <a:solidFill>
                <a:srgbClr val="E3003C">
                  <a:alpha val="24706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0422" y="2046176"/>
            <a:ext cx="985395" cy="98539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757">
                <a:alpha val="27843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13874" y="2710151"/>
            <a:ext cx="2958259" cy="1274297"/>
            <a:chOff x="0" y="0"/>
            <a:chExt cx="901221" cy="3882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02C964">
                <a:alpha val="29804"/>
              </a:srgbClr>
            </a:solidFill>
            <a:ln w="66675" cap="rnd">
              <a:solidFill>
                <a:srgbClr val="00BF63">
                  <a:alpha val="29804"/>
                </a:srgbClr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49970" y="2867299"/>
            <a:ext cx="985395" cy="98539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C964">
                <a:alpha val="22745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78301" y="4427119"/>
            <a:ext cx="2958259" cy="1274297"/>
            <a:chOff x="0" y="0"/>
            <a:chExt cx="901221" cy="3882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E2A9F1">
                <a:alpha val="51765"/>
              </a:srgbClr>
            </a:solidFill>
            <a:ln w="66675" cap="rnd">
              <a:solidFill>
                <a:srgbClr val="8C52FF">
                  <a:alpha val="51765"/>
                </a:srgbClr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914397" y="4584267"/>
            <a:ext cx="985395" cy="98539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A9F1">
                <a:alpha val="73725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778301" y="6144087"/>
            <a:ext cx="2958259" cy="1274297"/>
            <a:chOff x="0" y="0"/>
            <a:chExt cx="901221" cy="38820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FF5757">
                <a:alpha val="35686"/>
              </a:srgbClr>
            </a:solidFill>
            <a:ln w="66675" cap="rnd">
              <a:solidFill>
                <a:srgbClr val="E3003C">
                  <a:alpha val="35686"/>
                </a:srgbClr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914397" y="6301234"/>
            <a:ext cx="985395" cy="98539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757">
                <a:alpha val="27843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778301" y="8012794"/>
            <a:ext cx="2958259" cy="1274297"/>
            <a:chOff x="0" y="0"/>
            <a:chExt cx="901221" cy="38820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02C964">
                <a:alpha val="29804"/>
              </a:srgbClr>
            </a:solidFill>
            <a:ln w="66675" cap="rnd">
              <a:solidFill>
                <a:srgbClr val="129E7E">
                  <a:alpha val="29804"/>
                </a:srgbClr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914397" y="8169942"/>
            <a:ext cx="985395" cy="985395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C964">
                <a:alpha val="22745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946109" y="3629712"/>
            <a:ext cx="2958259" cy="1274297"/>
            <a:chOff x="0" y="0"/>
            <a:chExt cx="901221" cy="38820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FAC955">
                <a:alpha val="32941"/>
              </a:srgbClr>
            </a:solidFill>
            <a:ln w="66675" cap="rnd">
              <a:solidFill>
                <a:srgbClr val="FF751F">
                  <a:alpha val="32941"/>
                </a:srgbClr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082206" y="3786859"/>
            <a:ext cx="985395" cy="985395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C955">
                <a:alpha val="36863"/>
              </a:srgbClr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946109" y="5488718"/>
            <a:ext cx="2958259" cy="1274297"/>
            <a:chOff x="0" y="0"/>
            <a:chExt cx="901221" cy="38820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D1EFF9">
                <a:alpha val="51765"/>
              </a:srgbClr>
            </a:solidFill>
            <a:ln w="66675" cap="rnd">
              <a:solidFill>
                <a:srgbClr val="38B6FF">
                  <a:alpha val="51765"/>
                </a:srgbClr>
              </a:solidFill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082206" y="5645865"/>
            <a:ext cx="985395" cy="985395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B2FF">
                <a:alpha val="28627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947893" y="7229401"/>
            <a:ext cx="2958259" cy="1274297"/>
            <a:chOff x="0" y="0"/>
            <a:chExt cx="901221" cy="38820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01221" cy="388209"/>
            </a:xfrm>
            <a:custGeom>
              <a:avLst/>
              <a:gdLst/>
              <a:ahLst/>
              <a:cxnLst/>
              <a:rect r="r" b="b" t="t" l="l"/>
              <a:pathLst>
                <a:path h="388209" w="901221">
                  <a:moveTo>
                    <a:pt x="133470" y="0"/>
                  </a:moveTo>
                  <a:lnTo>
                    <a:pt x="767751" y="0"/>
                  </a:lnTo>
                  <a:cubicBezTo>
                    <a:pt x="841464" y="0"/>
                    <a:pt x="901221" y="59756"/>
                    <a:pt x="901221" y="133470"/>
                  </a:cubicBezTo>
                  <a:lnTo>
                    <a:pt x="901221" y="254739"/>
                  </a:lnTo>
                  <a:cubicBezTo>
                    <a:pt x="901221" y="328453"/>
                    <a:pt x="841464" y="388209"/>
                    <a:pt x="767751" y="388209"/>
                  </a:cubicBezTo>
                  <a:lnTo>
                    <a:pt x="133470" y="388209"/>
                  </a:lnTo>
                  <a:cubicBezTo>
                    <a:pt x="59756" y="388209"/>
                    <a:pt x="0" y="328453"/>
                    <a:pt x="0" y="254739"/>
                  </a:cubicBezTo>
                  <a:lnTo>
                    <a:pt x="0" y="133470"/>
                  </a:lnTo>
                  <a:cubicBezTo>
                    <a:pt x="0" y="59756"/>
                    <a:pt x="59756" y="0"/>
                    <a:pt x="133470" y="0"/>
                  </a:cubicBezTo>
                  <a:close/>
                </a:path>
              </a:pathLst>
            </a:custGeom>
            <a:solidFill>
              <a:srgbClr val="FAC955">
                <a:alpha val="32941"/>
              </a:srgbClr>
            </a:solidFill>
            <a:ln w="66675" cap="rnd">
              <a:solidFill>
                <a:srgbClr val="38B6FF">
                  <a:alpha val="32941"/>
                </a:srgbClr>
              </a:soli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01221" cy="435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083990" y="7386549"/>
            <a:ext cx="985395" cy="985395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C955">
                <a:alpha val="36863"/>
              </a:srgbClr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14759589" y="1686213"/>
            <a:ext cx="587842" cy="587842"/>
          </a:xfrm>
          <a:custGeom>
            <a:avLst/>
            <a:gdLst/>
            <a:ahLst/>
            <a:cxnLst/>
            <a:rect r="r" b="b" t="t" l="l"/>
            <a:pathLst>
              <a:path h="587842" w="587842">
                <a:moveTo>
                  <a:pt x="0" y="0"/>
                </a:moveTo>
                <a:lnTo>
                  <a:pt x="587842" y="0"/>
                </a:lnTo>
                <a:lnTo>
                  <a:pt x="587842" y="587842"/>
                </a:lnTo>
                <a:lnTo>
                  <a:pt x="0" y="5878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5174137" y="2139891"/>
            <a:ext cx="797965" cy="797965"/>
          </a:xfrm>
          <a:custGeom>
            <a:avLst/>
            <a:gdLst/>
            <a:ahLst/>
            <a:cxnLst/>
            <a:rect r="r" b="b" t="t" l="l"/>
            <a:pathLst>
              <a:path h="797965" w="797965">
                <a:moveTo>
                  <a:pt x="0" y="0"/>
                </a:moveTo>
                <a:lnTo>
                  <a:pt x="797965" y="0"/>
                </a:lnTo>
                <a:lnTo>
                  <a:pt x="797965" y="797965"/>
                </a:lnTo>
                <a:lnTo>
                  <a:pt x="0" y="7979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1556929" y="2488779"/>
            <a:ext cx="560929" cy="560929"/>
          </a:xfrm>
          <a:custGeom>
            <a:avLst/>
            <a:gdLst/>
            <a:ahLst/>
            <a:cxnLst/>
            <a:rect r="r" b="b" t="t" l="l"/>
            <a:pathLst>
              <a:path h="560929" w="560929">
                <a:moveTo>
                  <a:pt x="0" y="0"/>
                </a:moveTo>
                <a:lnTo>
                  <a:pt x="560929" y="0"/>
                </a:lnTo>
                <a:lnTo>
                  <a:pt x="560929" y="560930"/>
                </a:lnTo>
                <a:lnTo>
                  <a:pt x="0" y="560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2038067" y="3124500"/>
            <a:ext cx="552190" cy="552190"/>
          </a:xfrm>
          <a:custGeom>
            <a:avLst/>
            <a:gdLst/>
            <a:ahLst/>
            <a:cxnLst/>
            <a:rect r="r" b="b" t="t" l="l"/>
            <a:pathLst>
              <a:path h="552190" w="552190">
                <a:moveTo>
                  <a:pt x="0" y="0"/>
                </a:moveTo>
                <a:lnTo>
                  <a:pt x="552190" y="0"/>
                </a:lnTo>
                <a:lnTo>
                  <a:pt x="552190" y="552190"/>
                </a:lnTo>
                <a:lnTo>
                  <a:pt x="0" y="5521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4007715">
            <a:off x="14540670" y="1074670"/>
            <a:ext cx="1187428" cy="1187428"/>
          </a:xfrm>
          <a:custGeom>
            <a:avLst/>
            <a:gdLst/>
            <a:ahLst/>
            <a:cxnLst/>
            <a:rect r="r" b="b" t="t" l="l"/>
            <a:pathLst>
              <a:path h="1187428" w="1187428">
                <a:moveTo>
                  <a:pt x="0" y="0"/>
                </a:moveTo>
                <a:lnTo>
                  <a:pt x="1187428" y="0"/>
                </a:lnTo>
                <a:lnTo>
                  <a:pt x="1187428" y="1187428"/>
                </a:lnTo>
                <a:lnTo>
                  <a:pt x="0" y="11874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4672132" y="3236540"/>
            <a:ext cx="698310" cy="698310"/>
          </a:xfrm>
          <a:custGeom>
            <a:avLst/>
            <a:gdLst/>
            <a:ahLst/>
            <a:cxnLst/>
            <a:rect r="r" b="b" t="t" l="l"/>
            <a:pathLst>
              <a:path h="698310" w="698310">
                <a:moveTo>
                  <a:pt x="0" y="0"/>
                </a:moveTo>
                <a:lnTo>
                  <a:pt x="698310" y="0"/>
                </a:lnTo>
                <a:lnTo>
                  <a:pt x="698310" y="698310"/>
                </a:lnTo>
                <a:lnTo>
                  <a:pt x="0" y="6983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1513248" y="4232098"/>
            <a:ext cx="589246" cy="589246"/>
          </a:xfrm>
          <a:custGeom>
            <a:avLst/>
            <a:gdLst/>
            <a:ahLst/>
            <a:cxnLst/>
            <a:rect r="r" b="b" t="t" l="l"/>
            <a:pathLst>
              <a:path h="589246" w="589246">
                <a:moveTo>
                  <a:pt x="0" y="0"/>
                </a:moveTo>
                <a:lnTo>
                  <a:pt x="589246" y="0"/>
                </a:lnTo>
                <a:lnTo>
                  <a:pt x="589246" y="589246"/>
                </a:lnTo>
                <a:lnTo>
                  <a:pt x="0" y="5892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4781280" y="5157741"/>
            <a:ext cx="582127" cy="582127"/>
          </a:xfrm>
          <a:custGeom>
            <a:avLst/>
            <a:gdLst/>
            <a:ahLst/>
            <a:cxnLst/>
            <a:rect r="r" b="b" t="t" l="l"/>
            <a:pathLst>
              <a:path h="582127" w="582127">
                <a:moveTo>
                  <a:pt x="0" y="0"/>
                </a:moveTo>
                <a:lnTo>
                  <a:pt x="582127" y="0"/>
                </a:lnTo>
                <a:lnTo>
                  <a:pt x="582127" y="582127"/>
                </a:lnTo>
                <a:lnTo>
                  <a:pt x="0" y="5821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1576372" y="5949066"/>
            <a:ext cx="568708" cy="568708"/>
          </a:xfrm>
          <a:custGeom>
            <a:avLst/>
            <a:gdLst/>
            <a:ahLst/>
            <a:cxnLst/>
            <a:rect r="r" b="b" t="t" l="l"/>
            <a:pathLst>
              <a:path h="568708" w="568708">
                <a:moveTo>
                  <a:pt x="0" y="0"/>
                </a:moveTo>
                <a:lnTo>
                  <a:pt x="568709" y="0"/>
                </a:lnTo>
                <a:lnTo>
                  <a:pt x="568709" y="568708"/>
                </a:lnTo>
                <a:lnTo>
                  <a:pt x="0" y="56870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4790401" y="6934931"/>
            <a:ext cx="555087" cy="555087"/>
          </a:xfrm>
          <a:custGeom>
            <a:avLst/>
            <a:gdLst/>
            <a:ahLst/>
            <a:cxnLst/>
            <a:rect r="r" b="b" t="t" l="l"/>
            <a:pathLst>
              <a:path h="555087" w="555087">
                <a:moveTo>
                  <a:pt x="0" y="0"/>
                </a:moveTo>
                <a:lnTo>
                  <a:pt x="555088" y="0"/>
                </a:lnTo>
                <a:lnTo>
                  <a:pt x="555088" y="555087"/>
                </a:lnTo>
                <a:lnTo>
                  <a:pt x="0" y="5550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1576372" y="7769690"/>
            <a:ext cx="602254" cy="602254"/>
          </a:xfrm>
          <a:custGeom>
            <a:avLst/>
            <a:gdLst/>
            <a:ahLst/>
            <a:cxnLst/>
            <a:rect r="r" b="b" t="t" l="l"/>
            <a:pathLst>
              <a:path h="602254" w="602254">
                <a:moveTo>
                  <a:pt x="0" y="0"/>
                </a:moveTo>
                <a:lnTo>
                  <a:pt x="602254" y="0"/>
                </a:lnTo>
                <a:lnTo>
                  <a:pt x="602254" y="602254"/>
                </a:lnTo>
                <a:lnTo>
                  <a:pt x="0" y="60225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4007715">
            <a:off x="14602294" y="2844237"/>
            <a:ext cx="1187428" cy="1187428"/>
          </a:xfrm>
          <a:custGeom>
            <a:avLst/>
            <a:gdLst/>
            <a:ahLst/>
            <a:cxnLst/>
            <a:rect r="r" b="b" t="t" l="l"/>
            <a:pathLst>
              <a:path h="1187428" w="1187428">
                <a:moveTo>
                  <a:pt x="0" y="0"/>
                </a:moveTo>
                <a:lnTo>
                  <a:pt x="1187427" y="0"/>
                </a:lnTo>
                <a:lnTo>
                  <a:pt x="1187427" y="1187428"/>
                </a:lnTo>
                <a:lnTo>
                  <a:pt x="0" y="11874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4007715">
            <a:off x="14692485" y="4619954"/>
            <a:ext cx="1187428" cy="1187428"/>
          </a:xfrm>
          <a:custGeom>
            <a:avLst/>
            <a:gdLst/>
            <a:ahLst/>
            <a:cxnLst/>
            <a:rect r="r" b="b" t="t" l="l"/>
            <a:pathLst>
              <a:path h="1187428" w="1187428">
                <a:moveTo>
                  <a:pt x="0" y="0"/>
                </a:moveTo>
                <a:lnTo>
                  <a:pt x="1187428" y="0"/>
                </a:lnTo>
                <a:lnTo>
                  <a:pt x="1187428" y="1187428"/>
                </a:lnTo>
                <a:lnTo>
                  <a:pt x="0" y="11874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4007715">
            <a:off x="14692485" y="6367310"/>
            <a:ext cx="1187428" cy="1187428"/>
          </a:xfrm>
          <a:custGeom>
            <a:avLst/>
            <a:gdLst/>
            <a:ahLst/>
            <a:cxnLst/>
            <a:rect r="r" b="b" t="t" l="l"/>
            <a:pathLst>
              <a:path h="1187428" w="1187428">
                <a:moveTo>
                  <a:pt x="0" y="0"/>
                </a:moveTo>
                <a:lnTo>
                  <a:pt x="1187428" y="0"/>
                </a:lnTo>
                <a:lnTo>
                  <a:pt x="1187428" y="1187428"/>
                </a:lnTo>
                <a:lnTo>
                  <a:pt x="0" y="11874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-8329141">
            <a:off x="13837367" y="2051248"/>
            <a:ext cx="1105957" cy="1105957"/>
          </a:xfrm>
          <a:custGeom>
            <a:avLst/>
            <a:gdLst/>
            <a:ahLst/>
            <a:cxnLst/>
            <a:rect r="r" b="b" t="t" l="l"/>
            <a:pathLst>
              <a:path h="1105957" w="1105957">
                <a:moveTo>
                  <a:pt x="0" y="0"/>
                </a:moveTo>
                <a:lnTo>
                  <a:pt x="1105958" y="0"/>
                </a:lnTo>
                <a:lnTo>
                  <a:pt x="1105958" y="1105957"/>
                </a:lnTo>
                <a:lnTo>
                  <a:pt x="0" y="110595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12835365" y="3240915"/>
            <a:ext cx="1470731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creates a sstructured problem statement.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899792" y="4957883"/>
            <a:ext cx="1470731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solutions are implemented in a controlled pilot.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899792" y="6674850"/>
            <a:ext cx="1470731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 pilot results with measurable outcomes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961319" y="8608142"/>
            <a:ext cx="1772340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successful solutions across departments and locations</a:t>
            </a:r>
          </a:p>
        </p:txBody>
      </p:sp>
      <p:sp>
        <p:nvSpPr>
          <p:cNvPr name="Freeform 89" id="89"/>
          <p:cNvSpPr/>
          <p:nvPr/>
        </p:nvSpPr>
        <p:spPr>
          <a:xfrm flipH="false" flipV="false" rot="-8329141">
            <a:off x="13773388" y="3706022"/>
            <a:ext cx="1105957" cy="1105957"/>
          </a:xfrm>
          <a:custGeom>
            <a:avLst/>
            <a:gdLst/>
            <a:ahLst/>
            <a:cxnLst/>
            <a:rect r="r" b="b" t="t" l="l"/>
            <a:pathLst>
              <a:path h="1105957" w="1105957">
                <a:moveTo>
                  <a:pt x="0" y="0"/>
                </a:moveTo>
                <a:lnTo>
                  <a:pt x="1105957" y="0"/>
                </a:lnTo>
                <a:lnTo>
                  <a:pt x="1105957" y="1105957"/>
                </a:lnTo>
                <a:lnTo>
                  <a:pt x="0" y="110595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-8329141">
            <a:off x="13906728" y="5514259"/>
            <a:ext cx="1105957" cy="1105957"/>
          </a:xfrm>
          <a:custGeom>
            <a:avLst/>
            <a:gdLst/>
            <a:ahLst/>
            <a:cxnLst/>
            <a:rect r="r" b="b" t="t" l="l"/>
            <a:pathLst>
              <a:path h="1105957" w="1105957">
                <a:moveTo>
                  <a:pt x="0" y="0"/>
                </a:moveTo>
                <a:lnTo>
                  <a:pt x="1105957" y="0"/>
                </a:lnTo>
                <a:lnTo>
                  <a:pt x="1105957" y="1105957"/>
                </a:lnTo>
                <a:lnTo>
                  <a:pt x="0" y="110595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-8329141">
            <a:off x="13720238" y="7284395"/>
            <a:ext cx="1105957" cy="1105957"/>
          </a:xfrm>
          <a:custGeom>
            <a:avLst/>
            <a:gdLst/>
            <a:ahLst/>
            <a:cxnLst/>
            <a:rect r="r" b="b" t="t" l="l"/>
            <a:pathLst>
              <a:path h="1105957" w="1105957">
                <a:moveTo>
                  <a:pt x="0" y="0"/>
                </a:moveTo>
                <a:lnTo>
                  <a:pt x="1105957" y="0"/>
                </a:lnTo>
                <a:lnTo>
                  <a:pt x="1105957" y="1105957"/>
                </a:lnTo>
                <a:lnTo>
                  <a:pt x="0" y="110595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15122226" y="3860770"/>
            <a:ext cx="853400" cy="853400"/>
          </a:xfrm>
          <a:custGeom>
            <a:avLst/>
            <a:gdLst/>
            <a:ahLst/>
            <a:cxnLst/>
            <a:rect r="r" b="b" t="t" l="l"/>
            <a:pathLst>
              <a:path h="853400" w="853400">
                <a:moveTo>
                  <a:pt x="0" y="0"/>
                </a:moveTo>
                <a:lnTo>
                  <a:pt x="853400" y="0"/>
                </a:lnTo>
                <a:lnTo>
                  <a:pt x="853400" y="853399"/>
                </a:lnTo>
                <a:lnTo>
                  <a:pt x="0" y="85339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2068144" y="4725316"/>
            <a:ext cx="677902" cy="677902"/>
          </a:xfrm>
          <a:custGeom>
            <a:avLst/>
            <a:gdLst/>
            <a:ahLst/>
            <a:cxnLst/>
            <a:rect r="r" b="b" t="t" l="l"/>
            <a:pathLst>
              <a:path h="677902" w="677902">
                <a:moveTo>
                  <a:pt x="0" y="0"/>
                </a:moveTo>
                <a:lnTo>
                  <a:pt x="677901" y="0"/>
                </a:lnTo>
                <a:lnTo>
                  <a:pt x="677901" y="677902"/>
                </a:lnTo>
                <a:lnTo>
                  <a:pt x="0" y="67790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15240000" y="5756630"/>
            <a:ext cx="777298" cy="777298"/>
          </a:xfrm>
          <a:custGeom>
            <a:avLst/>
            <a:gdLst/>
            <a:ahLst/>
            <a:cxnLst/>
            <a:rect r="r" b="b" t="t" l="l"/>
            <a:pathLst>
              <a:path h="777298" w="777298">
                <a:moveTo>
                  <a:pt x="0" y="0"/>
                </a:moveTo>
                <a:lnTo>
                  <a:pt x="777298" y="0"/>
                </a:lnTo>
                <a:lnTo>
                  <a:pt x="777298" y="777297"/>
                </a:lnTo>
                <a:lnTo>
                  <a:pt x="0" y="77729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2068144" y="6404959"/>
            <a:ext cx="716111" cy="716111"/>
          </a:xfrm>
          <a:custGeom>
            <a:avLst/>
            <a:gdLst/>
            <a:ahLst/>
            <a:cxnLst/>
            <a:rect r="r" b="b" t="t" l="l"/>
            <a:pathLst>
              <a:path h="716111" w="716111">
                <a:moveTo>
                  <a:pt x="0" y="0"/>
                </a:moveTo>
                <a:lnTo>
                  <a:pt x="716111" y="0"/>
                </a:lnTo>
                <a:lnTo>
                  <a:pt x="716111" y="716111"/>
                </a:lnTo>
                <a:lnTo>
                  <a:pt x="0" y="7161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5253535" y="7566218"/>
            <a:ext cx="611833" cy="611833"/>
          </a:xfrm>
          <a:custGeom>
            <a:avLst/>
            <a:gdLst/>
            <a:ahLst/>
            <a:cxnLst/>
            <a:rect r="r" b="b" t="t" l="l"/>
            <a:pathLst>
              <a:path h="611833" w="611833">
                <a:moveTo>
                  <a:pt x="0" y="0"/>
                </a:moveTo>
                <a:lnTo>
                  <a:pt x="611832" y="0"/>
                </a:lnTo>
                <a:lnTo>
                  <a:pt x="611832" y="611832"/>
                </a:lnTo>
                <a:lnTo>
                  <a:pt x="0" y="61183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12102494" y="8341486"/>
            <a:ext cx="649275" cy="649275"/>
          </a:xfrm>
          <a:custGeom>
            <a:avLst/>
            <a:gdLst/>
            <a:ahLst/>
            <a:cxnLst/>
            <a:rect r="r" b="b" t="t" l="l"/>
            <a:pathLst>
              <a:path h="649275" w="649275">
                <a:moveTo>
                  <a:pt x="0" y="0"/>
                </a:moveTo>
                <a:lnTo>
                  <a:pt x="649275" y="0"/>
                </a:lnTo>
                <a:lnTo>
                  <a:pt x="649275" y="649275"/>
                </a:lnTo>
                <a:lnTo>
                  <a:pt x="0" y="6492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98" id="98"/>
          <p:cNvSpPr txBox="true"/>
          <p:nvPr/>
        </p:nvSpPr>
        <p:spPr>
          <a:xfrm rot="0">
            <a:off x="12961319" y="8267268"/>
            <a:ext cx="463369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Scale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42676" y="5988973"/>
            <a:ext cx="11371198" cy="34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0"/>
              </a:lnSpc>
            </a:pPr>
          </a:p>
          <a:p>
            <a:pPr algn="just">
              <a:lnSpc>
                <a:spcPts val="2280"/>
              </a:lnSpc>
              <a:spcBef>
                <a:spcPct val="0"/>
              </a:spcBef>
            </a:pPr>
          </a:p>
          <a:p>
            <a:pPr algn="just">
              <a:lnSpc>
                <a:spcPts val="2280"/>
              </a:lnSpc>
              <a:spcBef>
                <a:spcPct val="0"/>
              </a:spcBef>
            </a:pP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Problem-to-Startup Matching – Semantic matching based on problem, technology, sector and capability.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Evidence-First Verification –  Structured verification of startup credentials, claims and supporting evidence.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Expert-in-the-Loop Evaluation – AI assists evaluation; domain experts validate technical evidence.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Pilot-to-Procurement Bridge – Connects validated pilot outcomes with the appropriate procurement pathway.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Milestone-Based Governance – Tracks KPIs, evidence, approvals and payment milestones throughout the pilot.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RAG Policy Assistant – Provides policy/procurement guidance grounded in approved documents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Audit Logs- Audit of every actions performed by Government and Experts are maintained for transparency.</a:t>
            </a:r>
          </a:p>
          <a:p>
            <a:pPr algn="just">
              <a:lnSpc>
                <a:spcPts val="2280"/>
              </a:lnSpc>
              <a:spcBef>
                <a:spcPct val="0"/>
              </a:spcBef>
            </a:pPr>
          </a:p>
          <a:p>
            <a:pPr algn="just">
              <a:lnSpc>
                <a:spcPts val="2280"/>
              </a:lnSpc>
              <a:spcBef>
                <a:spcPct val="0"/>
              </a:spcBef>
            </a:pPr>
          </a:p>
        </p:txBody>
      </p:sp>
      <p:sp>
        <p:nvSpPr>
          <p:cNvPr name="TextBox 100" id="100"/>
          <p:cNvSpPr txBox="true"/>
          <p:nvPr/>
        </p:nvSpPr>
        <p:spPr>
          <a:xfrm rot="0">
            <a:off x="342676" y="3365470"/>
            <a:ext cx="8610599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0"/>
              </a:lnSpc>
            </a:pP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Define:  G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overnment creates a structured challenge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Structure: AI analyzes the challenges and create a structured opportunity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Discover and Match:  AI/NLP finds relevant eligible startups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Verify: DPIIT, company &amp; evidence verification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Evaluate: Independent expert technical assessment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Pilot:  Controlled pilot with milestones &amp; KPIs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Validate:  Evidence + expert validation + user feedback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Procure: Government reviews and selects applicable procurement pathway </a:t>
            </a:r>
          </a:p>
          <a:p>
            <a:pPr algn="just" marL="410211" indent="-205106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Scale: Successful solutions expand across departments/locations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55451" y="3340029"/>
            <a:ext cx="360769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</a:t>
            </a: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WORKFLOW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12847" y="6521073"/>
            <a:ext cx="23689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  <a:spcBef>
                <a:spcPct val="0"/>
              </a:spcBef>
            </a:pPr>
            <a:r>
              <a:rPr lang="en-US" b="true" sz="19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</a:t>
            </a:r>
            <a:r>
              <a:rPr lang="en-US" b="true" sz="19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 INNOVATIONS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12847" y="2170198"/>
            <a:ext cx="1081198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79"/>
              </a:lnSpc>
            </a:pPr>
          </a:p>
          <a:p>
            <a:pPr algn="just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AI-assisted Innovation-to-Pr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ocurement Platform that connects government departments with verified startups and takes successful innovations from problem identification to pilot, procurement and scale.</a:t>
            </a:r>
          </a:p>
          <a:p>
            <a:pPr algn="just">
              <a:lnSpc>
                <a:spcPts val="2279"/>
              </a:lnSpc>
              <a:spcBef>
                <a:spcPct val="0"/>
              </a:spcBef>
            </a:pPr>
          </a:p>
        </p:txBody>
      </p:sp>
      <p:sp>
        <p:nvSpPr>
          <p:cNvPr name="TextBox 104" id="104"/>
          <p:cNvSpPr txBox="true"/>
          <p:nvPr/>
        </p:nvSpPr>
        <p:spPr>
          <a:xfrm rot="0">
            <a:off x="255451" y="2186656"/>
            <a:ext cx="475981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SOLUTION — GOVINNOVATE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7177683" y="376238"/>
            <a:ext cx="393263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835365" y="1215642"/>
            <a:ext cx="1523491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Define Challenge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2835365" y="1500231"/>
            <a:ext cx="1470731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creates a sstructured problem statement.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6069385" y="2135202"/>
            <a:ext cx="1137321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Structure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6065817" y="2419792"/>
            <a:ext cx="1470731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analyzes the challenge and creates a structured opportunity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820487" y="2956325"/>
            <a:ext cx="1629340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Discover &amp; Match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2868508" y="4650474"/>
            <a:ext cx="648991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PILOT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2901161" y="6384121"/>
            <a:ext cx="733996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Validate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6069385" y="3887225"/>
            <a:ext cx="787950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6067601" y="4160475"/>
            <a:ext cx="1470731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experts assess solutions on predefined criteria.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6065817" y="5734892"/>
            <a:ext cx="857344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Feedback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6067601" y="6019481"/>
            <a:ext cx="1470731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feedback from Department , citizens and pilot stakeholders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6080045" y="7475575"/>
            <a:ext cx="710408" cy="29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16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Procure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6069385" y="7760165"/>
            <a:ext cx="1470731" cy="53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Goverenment reviews and selects applicable procurement pathway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56266" y="-331615"/>
            <a:ext cx="8613916" cy="1714500"/>
            <a:chOff x="0" y="0"/>
            <a:chExt cx="11485221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85221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485221">
                  <a:moveTo>
                    <a:pt x="0" y="0"/>
                  </a:moveTo>
                  <a:lnTo>
                    <a:pt x="11485221" y="0"/>
                  </a:lnTo>
                  <a:lnTo>
                    <a:pt x="11485221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91076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485221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425870" y="-3619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32303" y="1472440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50490" y="1650740"/>
            <a:ext cx="993240" cy="99324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B2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06358" y="1828815"/>
            <a:ext cx="637089" cy="637089"/>
          </a:xfrm>
          <a:custGeom>
            <a:avLst/>
            <a:gdLst/>
            <a:ahLst/>
            <a:cxnLst/>
            <a:rect r="r" b="b" t="t" l="l"/>
            <a:pathLst>
              <a:path h="637089" w="637089">
                <a:moveTo>
                  <a:pt x="0" y="0"/>
                </a:moveTo>
                <a:lnTo>
                  <a:pt x="637089" y="0"/>
                </a:lnTo>
                <a:lnTo>
                  <a:pt x="637089" y="637089"/>
                </a:lnTo>
                <a:lnTo>
                  <a:pt x="0" y="637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655091" y="6879582"/>
            <a:ext cx="13786036" cy="2531289"/>
          </a:xfrm>
          <a:custGeom>
            <a:avLst/>
            <a:gdLst/>
            <a:ahLst/>
            <a:cxnLst/>
            <a:rect r="r" b="b" t="t" l="l"/>
            <a:pathLst>
              <a:path h="2531289" w="13786036">
                <a:moveTo>
                  <a:pt x="0" y="0"/>
                </a:moveTo>
                <a:lnTo>
                  <a:pt x="13786036" y="0"/>
                </a:lnTo>
                <a:lnTo>
                  <a:pt x="13786036" y="2531289"/>
                </a:lnTo>
                <a:lnTo>
                  <a:pt x="0" y="2531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7311" r="0" b="-77623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91275" y="7323020"/>
            <a:ext cx="1684561" cy="1684561"/>
          </a:xfrm>
          <a:custGeom>
            <a:avLst/>
            <a:gdLst/>
            <a:ahLst/>
            <a:cxnLst/>
            <a:rect r="r" b="b" t="t" l="l"/>
            <a:pathLst>
              <a:path h="1684561" w="1684561">
                <a:moveTo>
                  <a:pt x="0" y="0"/>
                </a:moveTo>
                <a:lnTo>
                  <a:pt x="1684561" y="0"/>
                </a:lnTo>
                <a:lnTo>
                  <a:pt x="1684561" y="1684561"/>
                </a:lnTo>
                <a:lnTo>
                  <a:pt x="0" y="16845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597590" y="1472440"/>
            <a:ext cx="1768390" cy="2235355"/>
          </a:xfrm>
          <a:custGeom>
            <a:avLst/>
            <a:gdLst/>
            <a:ahLst/>
            <a:cxnLst/>
            <a:rect r="r" b="b" t="t" l="l"/>
            <a:pathLst>
              <a:path h="2235355" w="1768390">
                <a:moveTo>
                  <a:pt x="0" y="0"/>
                </a:moveTo>
                <a:lnTo>
                  <a:pt x="1768390" y="0"/>
                </a:lnTo>
                <a:lnTo>
                  <a:pt x="1768390" y="2235355"/>
                </a:lnTo>
                <a:lnTo>
                  <a:pt x="0" y="22353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99" r="0" b="-499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689830" y="1440035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7"/>
                </a:lnTo>
                <a:lnTo>
                  <a:pt x="0" y="2257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854921" y="1491355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1" y="0"/>
                </a:lnTo>
                <a:lnTo>
                  <a:pt x="1768391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778999" y="1472440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153545" y="1622770"/>
            <a:ext cx="1063196" cy="106319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CE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030688" y="1582265"/>
            <a:ext cx="1086674" cy="108667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F5D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5257518" y="1752224"/>
            <a:ext cx="657390" cy="698230"/>
          </a:xfrm>
          <a:custGeom>
            <a:avLst/>
            <a:gdLst/>
            <a:ahLst/>
            <a:cxnLst/>
            <a:rect r="r" b="b" t="t" l="l"/>
            <a:pathLst>
              <a:path h="698230" w="657390">
                <a:moveTo>
                  <a:pt x="0" y="0"/>
                </a:moveTo>
                <a:lnTo>
                  <a:pt x="657390" y="0"/>
                </a:lnTo>
                <a:lnTo>
                  <a:pt x="657390" y="698229"/>
                </a:lnTo>
                <a:lnTo>
                  <a:pt x="0" y="6982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106" t="0" r="-3106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334733" y="1765672"/>
            <a:ext cx="700820" cy="749540"/>
          </a:xfrm>
          <a:custGeom>
            <a:avLst/>
            <a:gdLst/>
            <a:ahLst/>
            <a:cxnLst/>
            <a:rect r="r" b="b" t="t" l="l"/>
            <a:pathLst>
              <a:path h="749540" w="700820">
                <a:moveTo>
                  <a:pt x="0" y="0"/>
                </a:moveTo>
                <a:lnTo>
                  <a:pt x="700820" y="0"/>
                </a:lnTo>
                <a:lnTo>
                  <a:pt x="700820" y="749539"/>
                </a:lnTo>
                <a:lnTo>
                  <a:pt x="0" y="7495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204614" y="1582265"/>
            <a:ext cx="1086674" cy="108667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F5D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9430189" y="1797493"/>
            <a:ext cx="635523" cy="610955"/>
          </a:xfrm>
          <a:custGeom>
            <a:avLst/>
            <a:gdLst/>
            <a:ahLst/>
            <a:cxnLst/>
            <a:rect r="r" b="b" t="t" l="l"/>
            <a:pathLst>
              <a:path h="610955" w="635523">
                <a:moveTo>
                  <a:pt x="0" y="0"/>
                </a:moveTo>
                <a:lnTo>
                  <a:pt x="635523" y="0"/>
                </a:lnTo>
                <a:lnTo>
                  <a:pt x="635523" y="610956"/>
                </a:lnTo>
                <a:lnTo>
                  <a:pt x="0" y="6109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-4021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984984" y="1337070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5477274" y="1582265"/>
            <a:ext cx="1086674" cy="108667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4C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298757" y="1557306"/>
            <a:ext cx="1086674" cy="1086674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3517731" y="1846260"/>
            <a:ext cx="657381" cy="489749"/>
          </a:xfrm>
          <a:custGeom>
            <a:avLst/>
            <a:gdLst/>
            <a:ahLst/>
            <a:cxnLst/>
            <a:rect r="r" b="b" t="t" l="l"/>
            <a:pathLst>
              <a:path h="489749" w="657381">
                <a:moveTo>
                  <a:pt x="0" y="0"/>
                </a:moveTo>
                <a:lnTo>
                  <a:pt x="657381" y="0"/>
                </a:lnTo>
                <a:lnTo>
                  <a:pt x="657381" y="489749"/>
                </a:lnTo>
                <a:lnTo>
                  <a:pt x="0" y="48974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831843" y="1765672"/>
            <a:ext cx="377537" cy="650925"/>
          </a:xfrm>
          <a:custGeom>
            <a:avLst/>
            <a:gdLst/>
            <a:ahLst/>
            <a:cxnLst/>
            <a:rect r="r" b="b" t="t" l="l"/>
            <a:pathLst>
              <a:path h="650925" w="377537">
                <a:moveTo>
                  <a:pt x="0" y="0"/>
                </a:moveTo>
                <a:lnTo>
                  <a:pt x="377536" y="0"/>
                </a:lnTo>
                <a:lnTo>
                  <a:pt x="377536" y="650925"/>
                </a:lnTo>
                <a:lnTo>
                  <a:pt x="0" y="65092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459832" y="5110859"/>
            <a:ext cx="1730141" cy="1420378"/>
          </a:xfrm>
          <a:custGeom>
            <a:avLst/>
            <a:gdLst/>
            <a:ahLst/>
            <a:cxnLst/>
            <a:rect r="r" b="b" t="t" l="l"/>
            <a:pathLst>
              <a:path h="1420378" w="1730141">
                <a:moveTo>
                  <a:pt x="0" y="0"/>
                </a:moveTo>
                <a:lnTo>
                  <a:pt x="1730141" y="0"/>
                </a:lnTo>
                <a:lnTo>
                  <a:pt x="1730141" y="1420378"/>
                </a:lnTo>
                <a:lnTo>
                  <a:pt x="0" y="142037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2311198" y="5110859"/>
            <a:ext cx="1730141" cy="1420378"/>
          </a:xfrm>
          <a:custGeom>
            <a:avLst/>
            <a:gdLst/>
            <a:ahLst/>
            <a:cxnLst/>
            <a:rect r="r" b="b" t="t" l="l"/>
            <a:pathLst>
              <a:path h="1420378" w="1730141">
                <a:moveTo>
                  <a:pt x="0" y="0"/>
                </a:moveTo>
                <a:lnTo>
                  <a:pt x="1730141" y="0"/>
                </a:lnTo>
                <a:lnTo>
                  <a:pt x="1730141" y="1420378"/>
                </a:lnTo>
                <a:lnTo>
                  <a:pt x="0" y="142037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10560" y="4025389"/>
            <a:ext cx="3799317" cy="821250"/>
          </a:xfrm>
          <a:custGeom>
            <a:avLst/>
            <a:gdLst/>
            <a:ahLst/>
            <a:cxnLst/>
            <a:rect r="r" b="b" t="t" l="l"/>
            <a:pathLst>
              <a:path h="821250" w="3799317">
                <a:moveTo>
                  <a:pt x="0" y="0"/>
                </a:moveTo>
                <a:lnTo>
                  <a:pt x="3799317" y="0"/>
                </a:lnTo>
                <a:lnTo>
                  <a:pt x="3799317" y="821249"/>
                </a:lnTo>
                <a:lnTo>
                  <a:pt x="0" y="82124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111308">
            <a:off x="348944" y="4551718"/>
            <a:ext cx="484662" cy="865467"/>
          </a:xfrm>
          <a:custGeom>
            <a:avLst/>
            <a:gdLst/>
            <a:ahLst/>
            <a:cxnLst/>
            <a:rect r="r" b="b" t="t" l="l"/>
            <a:pathLst>
              <a:path h="865467" w="484662">
                <a:moveTo>
                  <a:pt x="0" y="0"/>
                </a:moveTo>
                <a:lnTo>
                  <a:pt x="484662" y="0"/>
                </a:lnTo>
                <a:lnTo>
                  <a:pt x="484662" y="865467"/>
                </a:lnTo>
                <a:lnTo>
                  <a:pt x="0" y="86546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2663127" y="5095875"/>
            <a:ext cx="1019175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3516101" y="4551718"/>
            <a:ext cx="484662" cy="865467"/>
          </a:xfrm>
          <a:custGeom>
            <a:avLst/>
            <a:gdLst/>
            <a:ahLst/>
            <a:cxnLst/>
            <a:rect r="r" b="b" t="t" l="l"/>
            <a:pathLst>
              <a:path h="865467" w="484662">
                <a:moveTo>
                  <a:pt x="0" y="0"/>
                </a:moveTo>
                <a:lnTo>
                  <a:pt x="484662" y="0"/>
                </a:lnTo>
                <a:lnTo>
                  <a:pt x="484662" y="865467"/>
                </a:lnTo>
                <a:lnTo>
                  <a:pt x="0" y="86546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914891" y="4187173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986331" y="3541924"/>
            <a:ext cx="523313" cy="934488"/>
          </a:xfrm>
          <a:custGeom>
            <a:avLst/>
            <a:gdLst/>
            <a:ahLst/>
            <a:cxnLst/>
            <a:rect r="r" b="b" t="t" l="l"/>
            <a:pathLst>
              <a:path h="934488" w="523313">
                <a:moveTo>
                  <a:pt x="0" y="0"/>
                </a:moveTo>
                <a:lnTo>
                  <a:pt x="523313" y="0"/>
                </a:lnTo>
                <a:lnTo>
                  <a:pt x="523313" y="934487"/>
                </a:lnTo>
                <a:lnTo>
                  <a:pt x="0" y="93448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994368" y="4538059"/>
            <a:ext cx="441929" cy="446393"/>
          </a:xfrm>
          <a:custGeom>
            <a:avLst/>
            <a:gdLst/>
            <a:ahLst/>
            <a:cxnLst/>
            <a:rect r="r" b="b" t="t" l="l"/>
            <a:pathLst>
              <a:path h="446393" w="441929">
                <a:moveTo>
                  <a:pt x="0" y="0"/>
                </a:moveTo>
                <a:lnTo>
                  <a:pt x="441929" y="0"/>
                </a:lnTo>
                <a:lnTo>
                  <a:pt x="441929" y="446392"/>
                </a:lnTo>
                <a:lnTo>
                  <a:pt x="0" y="44639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0018067" y="5095717"/>
            <a:ext cx="395030" cy="401046"/>
          </a:xfrm>
          <a:custGeom>
            <a:avLst/>
            <a:gdLst/>
            <a:ahLst/>
            <a:cxnLst/>
            <a:rect r="r" b="b" t="t" l="l"/>
            <a:pathLst>
              <a:path h="401046" w="395030">
                <a:moveTo>
                  <a:pt x="0" y="0"/>
                </a:moveTo>
                <a:lnTo>
                  <a:pt x="395030" y="0"/>
                </a:lnTo>
                <a:lnTo>
                  <a:pt x="395030" y="401046"/>
                </a:lnTo>
                <a:lnTo>
                  <a:pt x="0" y="40104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9994368" y="5605916"/>
            <a:ext cx="418729" cy="425106"/>
          </a:xfrm>
          <a:custGeom>
            <a:avLst/>
            <a:gdLst/>
            <a:ahLst/>
            <a:cxnLst/>
            <a:rect r="r" b="b" t="t" l="l"/>
            <a:pathLst>
              <a:path h="425106" w="418729">
                <a:moveTo>
                  <a:pt x="0" y="0"/>
                </a:moveTo>
                <a:lnTo>
                  <a:pt x="418729" y="0"/>
                </a:lnTo>
                <a:lnTo>
                  <a:pt x="418729" y="425105"/>
                </a:lnTo>
                <a:lnTo>
                  <a:pt x="0" y="425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2489719" y="3888202"/>
            <a:ext cx="2172228" cy="2773240"/>
          </a:xfrm>
          <a:custGeom>
            <a:avLst/>
            <a:gdLst/>
            <a:ahLst/>
            <a:cxnLst/>
            <a:rect r="r" b="b" t="t" l="l"/>
            <a:pathLst>
              <a:path h="2773240" w="2172228">
                <a:moveTo>
                  <a:pt x="0" y="0"/>
                </a:moveTo>
                <a:lnTo>
                  <a:pt x="2172228" y="0"/>
                </a:lnTo>
                <a:lnTo>
                  <a:pt x="2172228" y="2773240"/>
                </a:lnTo>
                <a:lnTo>
                  <a:pt x="0" y="27732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2576655" y="3391639"/>
            <a:ext cx="523313" cy="934488"/>
          </a:xfrm>
          <a:custGeom>
            <a:avLst/>
            <a:gdLst/>
            <a:ahLst/>
            <a:cxnLst/>
            <a:rect r="r" b="b" t="t" l="l"/>
            <a:pathLst>
              <a:path h="934488" w="523313">
                <a:moveTo>
                  <a:pt x="0" y="0"/>
                </a:moveTo>
                <a:lnTo>
                  <a:pt x="523313" y="0"/>
                </a:lnTo>
                <a:lnTo>
                  <a:pt x="523313" y="934488"/>
                </a:lnTo>
                <a:lnTo>
                  <a:pt x="0" y="93448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2691638" y="4498757"/>
            <a:ext cx="293346" cy="293346"/>
          </a:xfrm>
          <a:custGeom>
            <a:avLst/>
            <a:gdLst/>
            <a:ahLst/>
            <a:cxnLst/>
            <a:rect r="r" b="b" t="t" l="l"/>
            <a:pathLst>
              <a:path h="293346" w="293346">
                <a:moveTo>
                  <a:pt x="0" y="0"/>
                </a:moveTo>
                <a:lnTo>
                  <a:pt x="293346" y="0"/>
                </a:lnTo>
                <a:lnTo>
                  <a:pt x="293346" y="293346"/>
                </a:lnTo>
                <a:lnTo>
                  <a:pt x="0" y="29334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3323068" y="4009168"/>
            <a:ext cx="426846" cy="426846"/>
          </a:xfrm>
          <a:custGeom>
            <a:avLst/>
            <a:gdLst/>
            <a:ahLst/>
            <a:cxnLst/>
            <a:rect r="r" b="b" t="t" l="l"/>
            <a:pathLst>
              <a:path h="426846" w="426846">
                <a:moveTo>
                  <a:pt x="0" y="0"/>
                </a:moveTo>
                <a:lnTo>
                  <a:pt x="426846" y="0"/>
                </a:lnTo>
                <a:lnTo>
                  <a:pt x="426846" y="426845"/>
                </a:lnTo>
                <a:lnTo>
                  <a:pt x="0" y="42684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2691638" y="4915928"/>
            <a:ext cx="293346" cy="293346"/>
          </a:xfrm>
          <a:custGeom>
            <a:avLst/>
            <a:gdLst/>
            <a:ahLst/>
            <a:cxnLst/>
            <a:rect r="r" b="b" t="t" l="l"/>
            <a:pathLst>
              <a:path h="293346" w="293346">
                <a:moveTo>
                  <a:pt x="0" y="0"/>
                </a:moveTo>
                <a:lnTo>
                  <a:pt x="293346" y="0"/>
                </a:lnTo>
                <a:lnTo>
                  <a:pt x="293346" y="293346"/>
                </a:lnTo>
                <a:lnTo>
                  <a:pt x="0" y="29334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691638" y="5459243"/>
            <a:ext cx="293346" cy="293346"/>
          </a:xfrm>
          <a:custGeom>
            <a:avLst/>
            <a:gdLst/>
            <a:ahLst/>
            <a:cxnLst/>
            <a:rect r="r" b="b" t="t" l="l"/>
            <a:pathLst>
              <a:path h="293346" w="293346">
                <a:moveTo>
                  <a:pt x="0" y="0"/>
                </a:moveTo>
                <a:lnTo>
                  <a:pt x="293346" y="0"/>
                </a:lnTo>
                <a:lnTo>
                  <a:pt x="293346" y="293346"/>
                </a:lnTo>
                <a:lnTo>
                  <a:pt x="0" y="29334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2691638" y="5940742"/>
            <a:ext cx="293346" cy="293346"/>
          </a:xfrm>
          <a:custGeom>
            <a:avLst/>
            <a:gdLst/>
            <a:ahLst/>
            <a:cxnLst/>
            <a:rect r="r" b="b" t="t" l="l"/>
            <a:pathLst>
              <a:path h="293346" w="293346">
                <a:moveTo>
                  <a:pt x="0" y="0"/>
                </a:moveTo>
                <a:lnTo>
                  <a:pt x="293346" y="0"/>
                </a:lnTo>
                <a:lnTo>
                  <a:pt x="293346" y="293346"/>
                </a:lnTo>
                <a:lnTo>
                  <a:pt x="0" y="29334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062256" y="5634068"/>
            <a:ext cx="411450" cy="411450"/>
          </a:xfrm>
          <a:custGeom>
            <a:avLst/>
            <a:gdLst/>
            <a:ahLst/>
            <a:cxnLst/>
            <a:rect r="r" b="b" t="t" l="l"/>
            <a:pathLst>
              <a:path h="411450" w="411450">
                <a:moveTo>
                  <a:pt x="0" y="0"/>
                </a:moveTo>
                <a:lnTo>
                  <a:pt x="411450" y="0"/>
                </a:lnTo>
                <a:lnTo>
                  <a:pt x="411450" y="411450"/>
                </a:lnTo>
                <a:lnTo>
                  <a:pt x="0" y="41145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5400000">
            <a:off x="7574212" y="4100338"/>
            <a:ext cx="1941740" cy="2505515"/>
          </a:xfrm>
          <a:custGeom>
            <a:avLst/>
            <a:gdLst/>
            <a:ahLst/>
            <a:cxnLst/>
            <a:rect r="r" b="b" t="t" l="l"/>
            <a:pathLst>
              <a:path h="2505515" w="1941740">
                <a:moveTo>
                  <a:pt x="0" y="0"/>
                </a:moveTo>
                <a:lnTo>
                  <a:pt x="1941740" y="0"/>
                </a:lnTo>
                <a:lnTo>
                  <a:pt x="1941740" y="2505515"/>
                </a:lnTo>
                <a:lnTo>
                  <a:pt x="0" y="250551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-107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7420585" y="3450110"/>
            <a:ext cx="692823" cy="1237185"/>
          </a:xfrm>
          <a:custGeom>
            <a:avLst/>
            <a:gdLst/>
            <a:ahLst/>
            <a:cxnLst/>
            <a:rect r="r" b="b" t="t" l="l"/>
            <a:pathLst>
              <a:path h="1237185" w="692823">
                <a:moveTo>
                  <a:pt x="0" y="0"/>
                </a:moveTo>
                <a:lnTo>
                  <a:pt x="692824" y="0"/>
                </a:lnTo>
                <a:lnTo>
                  <a:pt x="692824" y="1237185"/>
                </a:lnTo>
                <a:lnTo>
                  <a:pt x="0" y="123718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-7994444">
            <a:off x="14905969" y="3415563"/>
            <a:ext cx="780686" cy="1394083"/>
          </a:xfrm>
          <a:custGeom>
            <a:avLst/>
            <a:gdLst/>
            <a:ahLst/>
            <a:cxnLst/>
            <a:rect r="r" b="b" t="t" l="l"/>
            <a:pathLst>
              <a:path h="1394083" w="780686">
                <a:moveTo>
                  <a:pt x="0" y="0"/>
                </a:moveTo>
                <a:lnTo>
                  <a:pt x="780687" y="0"/>
                </a:lnTo>
                <a:lnTo>
                  <a:pt x="780687" y="1394083"/>
                </a:lnTo>
                <a:lnTo>
                  <a:pt x="0" y="139408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-5400000">
            <a:off x="4765970" y="4635833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5192806" y="5023846"/>
            <a:ext cx="870794" cy="870794"/>
          </a:xfrm>
          <a:custGeom>
            <a:avLst/>
            <a:gdLst/>
            <a:ahLst/>
            <a:cxnLst/>
            <a:rect r="r" b="b" t="t" l="l"/>
            <a:pathLst>
              <a:path h="870794" w="870794">
                <a:moveTo>
                  <a:pt x="0" y="0"/>
                </a:moveTo>
                <a:lnTo>
                  <a:pt x="870794" y="0"/>
                </a:lnTo>
                <a:lnTo>
                  <a:pt x="870794" y="870794"/>
                </a:lnTo>
                <a:lnTo>
                  <a:pt x="0" y="8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4442249">
            <a:off x="5221930" y="3627526"/>
            <a:ext cx="1186943" cy="1211166"/>
          </a:xfrm>
          <a:custGeom>
            <a:avLst/>
            <a:gdLst/>
            <a:ahLst/>
            <a:cxnLst/>
            <a:rect r="r" b="b" t="t" l="l"/>
            <a:pathLst>
              <a:path h="1211166" w="1186943">
                <a:moveTo>
                  <a:pt x="0" y="0"/>
                </a:moveTo>
                <a:lnTo>
                  <a:pt x="1186943" y="0"/>
                </a:lnTo>
                <a:lnTo>
                  <a:pt x="1186943" y="1211166"/>
                </a:lnTo>
                <a:lnTo>
                  <a:pt x="0" y="121116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-5400000">
            <a:off x="15416085" y="4116894"/>
            <a:ext cx="1996477" cy="2659416"/>
          </a:xfrm>
          <a:custGeom>
            <a:avLst/>
            <a:gdLst/>
            <a:ahLst/>
            <a:cxnLst/>
            <a:rect r="r" b="b" t="t" l="l"/>
            <a:pathLst>
              <a:path h="2659416" w="1996477">
                <a:moveTo>
                  <a:pt x="0" y="0"/>
                </a:moveTo>
                <a:lnTo>
                  <a:pt x="1996476" y="0"/>
                </a:lnTo>
                <a:lnTo>
                  <a:pt x="1996476" y="2659417"/>
                </a:lnTo>
                <a:lnTo>
                  <a:pt x="0" y="2659417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-2168" t="0" r="-2168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5996585" y="4578447"/>
            <a:ext cx="904541" cy="918316"/>
          </a:xfrm>
          <a:custGeom>
            <a:avLst/>
            <a:gdLst/>
            <a:ahLst/>
            <a:cxnLst/>
            <a:rect r="r" b="b" t="t" l="l"/>
            <a:pathLst>
              <a:path h="918316" w="904541">
                <a:moveTo>
                  <a:pt x="0" y="0"/>
                </a:moveTo>
                <a:lnTo>
                  <a:pt x="904541" y="0"/>
                </a:lnTo>
                <a:lnTo>
                  <a:pt x="904541" y="918316"/>
                </a:lnTo>
                <a:lnTo>
                  <a:pt x="0" y="918316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2952178">
            <a:off x="16157515" y="3535895"/>
            <a:ext cx="1605275" cy="1364484"/>
          </a:xfrm>
          <a:custGeom>
            <a:avLst/>
            <a:gdLst/>
            <a:ahLst/>
            <a:cxnLst/>
            <a:rect r="r" b="b" t="t" l="l"/>
            <a:pathLst>
              <a:path h="1364484" w="1605275">
                <a:moveTo>
                  <a:pt x="0" y="0"/>
                </a:moveTo>
                <a:lnTo>
                  <a:pt x="1605276" y="0"/>
                </a:lnTo>
                <a:lnTo>
                  <a:pt x="1605276" y="1364484"/>
                </a:lnTo>
                <a:lnTo>
                  <a:pt x="0" y="1364484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430001" y="7323020"/>
            <a:ext cx="3086100" cy="1684561"/>
            <a:chOff x="0" y="0"/>
            <a:chExt cx="812800" cy="44367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443670"/>
            </a:xfrm>
            <a:custGeom>
              <a:avLst/>
              <a:gdLst/>
              <a:ahLst/>
              <a:cxnLst/>
              <a:rect r="r" b="b" t="t" l="l"/>
              <a:pathLst>
                <a:path h="443670" w="812800">
                  <a:moveTo>
                    <a:pt x="609600" y="0"/>
                  </a:moveTo>
                  <a:lnTo>
                    <a:pt x="0" y="0"/>
                  </a:lnTo>
                  <a:lnTo>
                    <a:pt x="0" y="443670"/>
                  </a:lnTo>
                  <a:lnTo>
                    <a:pt x="609600" y="443670"/>
                  </a:lnTo>
                  <a:lnTo>
                    <a:pt x="812800" y="221835"/>
                  </a:ln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28000"/>
                  </a:srgbClr>
                </a:gs>
                <a:gs pos="100000">
                  <a:srgbClr val="94B9FF">
                    <a:alpha val="28000"/>
                  </a:srgbClr>
                </a:gs>
              </a:gsLst>
              <a:lin ang="0"/>
            </a:gra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98500" cy="491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3006372" y="1609234"/>
            <a:ext cx="886052" cy="886052"/>
          </a:xfrm>
          <a:custGeom>
            <a:avLst/>
            <a:gdLst/>
            <a:ahLst/>
            <a:cxnLst/>
            <a:rect r="r" b="b" t="t" l="l"/>
            <a:pathLst>
              <a:path h="886052" w="886052">
                <a:moveTo>
                  <a:pt x="0" y="0"/>
                </a:moveTo>
                <a:lnTo>
                  <a:pt x="886052" y="0"/>
                </a:lnTo>
                <a:lnTo>
                  <a:pt x="886052" y="886052"/>
                </a:lnTo>
                <a:lnTo>
                  <a:pt x="0" y="886052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79" id="79">
            <a:hlinkClick r:id="rId47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0930844" y="1366452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11277804" y="1603393"/>
            <a:ext cx="1063196" cy="1063196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CEF9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0">
            <a:off x="11365751" y="1685702"/>
            <a:ext cx="898576" cy="898576"/>
          </a:xfrm>
          <a:custGeom>
            <a:avLst/>
            <a:gdLst/>
            <a:ahLst/>
            <a:cxnLst/>
            <a:rect r="r" b="b" t="t" l="l"/>
            <a:pathLst>
              <a:path h="898576" w="898576">
                <a:moveTo>
                  <a:pt x="0" y="0"/>
                </a:moveTo>
                <a:lnTo>
                  <a:pt x="898576" y="0"/>
                </a:lnTo>
                <a:lnTo>
                  <a:pt x="898576" y="898577"/>
                </a:lnTo>
                <a:lnTo>
                  <a:pt x="0" y="898577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15434865" y="2802276"/>
            <a:ext cx="1199257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Disbursement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2240761" y="2583558"/>
            <a:ext cx="401322" cy="215868"/>
            <a:chOff x="0" y="0"/>
            <a:chExt cx="1511086" cy="812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511086" cy="812800"/>
            </a:xfrm>
            <a:custGeom>
              <a:avLst/>
              <a:gdLst/>
              <a:ahLst/>
              <a:cxnLst/>
              <a:rect r="r" b="b" t="t" l="l"/>
              <a:pathLst>
                <a:path h="812800" w="1511086">
                  <a:moveTo>
                    <a:pt x="1511086" y="406400"/>
                  </a:moveTo>
                  <a:lnTo>
                    <a:pt x="1104686" y="0"/>
                  </a:lnTo>
                  <a:lnTo>
                    <a:pt x="110468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104686" y="609600"/>
                  </a:lnTo>
                  <a:lnTo>
                    <a:pt x="1104686" y="812800"/>
                  </a:lnTo>
                  <a:lnTo>
                    <a:pt x="1511086" y="4064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155575"/>
              <a:ext cx="140948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320670" y="2568869"/>
            <a:ext cx="401322" cy="215868"/>
            <a:chOff x="0" y="0"/>
            <a:chExt cx="1511086" cy="812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511086" cy="812800"/>
            </a:xfrm>
            <a:custGeom>
              <a:avLst/>
              <a:gdLst/>
              <a:ahLst/>
              <a:cxnLst/>
              <a:rect r="r" b="b" t="t" l="l"/>
              <a:pathLst>
                <a:path h="812800" w="1511086">
                  <a:moveTo>
                    <a:pt x="1511086" y="406400"/>
                  </a:moveTo>
                  <a:lnTo>
                    <a:pt x="1104686" y="0"/>
                  </a:lnTo>
                  <a:lnTo>
                    <a:pt x="110468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104686" y="609600"/>
                  </a:lnTo>
                  <a:lnTo>
                    <a:pt x="1104686" y="812800"/>
                  </a:lnTo>
                  <a:lnTo>
                    <a:pt x="1511086" y="4064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155575"/>
              <a:ext cx="140948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400578" y="2554179"/>
            <a:ext cx="401322" cy="215868"/>
            <a:chOff x="0" y="0"/>
            <a:chExt cx="1511086" cy="812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11086" cy="812800"/>
            </a:xfrm>
            <a:custGeom>
              <a:avLst/>
              <a:gdLst/>
              <a:ahLst/>
              <a:cxnLst/>
              <a:rect r="r" b="b" t="t" l="l"/>
              <a:pathLst>
                <a:path h="812800" w="1511086">
                  <a:moveTo>
                    <a:pt x="1511086" y="406400"/>
                  </a:moveTo>
                  <a:lnTo>
                    <a:pt x="1104686" y="0"/>
                  </a:lnTo>
                  <a:lnTo>
                    <a:pt x="110468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104686" y="609600"/>
                  </a:lnTo>
                  <a:lnTo>
                    <a:pt x="1104686" y="812800"/>
                  </a:lnTo>
                  <a:lnTo>
                    <a:pt x="1511086" y="4064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155575"/>
              <a:ext cx="140948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8480487" y="2539489"/>
            <a:ext cx="401322" cy="215868"/>
            <a:chOff x="0" y="0"/>
            <a:chExt cx="1511086" cy="812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511086" cy="812800"/>
            </a:xfrm>
            <a:custGeom>
              <a:avLst/>
              <a:gdLst/>
              <a:ahLst/>
              <a:cxnLst/>
              <a:rect r="r" b="b" t="t" l="l"/>
              <a:pathLst>
                <a:path h="812800" w="1511086">
                  <a:moveTo>
                    <a:pt x="1511086" y="406400"/>
                  </a:moveTo>
                  <a:lnTo>
                    <a:pt x="1104686" y="0"/>
                  </a:lnTo>
                  <a:lnTo>
                    <a:pt x="110468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104686" y="609600"/>
                  </a:lnTo>
                  <a:lnTo>
                    <a:pt x="1104686" y="812800"/>
                  </a:lnTo>
                  <a:lnTo>
                    <a:pt x="1511086" y="4064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155575"/>
              <a:ext cx="140948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560395" y="2524799"/>
            <a:ext cx="401322" cy="215868"/>
            <a:chOff x="0" y="0"/>
            <a:chExt cx="1511086" cy="812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511086" cy="812800"/>
            </a:xfrm>
            <a:custGeom>
              <a:avLst/>
              <a:gdLst/>
              <a:ahLst/>
              <a:cxnLst/>
              <a:rect r="r" b="b" t="t" l="l"/>
              <a:pathLst>
                <a:path h="812800" w="1511086">
                  <a:moveTo>
                    <a:pt x="1511086" y="406400"/>
                  </a:moveTo>
                  <a:lnTo>
                    <a:pt x="1104686" y="0"/>
                  </a:lnTo>
                  <a:lnTo>
                    <a:pt x="110468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104686" y="609600"/>
                  </a:lnTo>
                  <a:lnTo>
                    <a:pt x="1104686" y="812800"/>
                  </a:lnTo>
                  <a:lnTo>
                    <a:pt x="1511086" y="4064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155575"/>
              <a:ext cx="140948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640304" y="2510109"/>
            <a:ext cx="401322" cy="215868"/>
            <a:chOff x="0" y="0"/>
            <a:chExt cx="1511086" cy="812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11086" cy="812800"/>
            </a:xfrm>
            <a:custGeom>
              <a:avLst/>
              <a:gdLst/>
              <a:ahLst/>
              <a:cxnLst/>
              <a:rect r="r" b="b" t="t" l="l"/>
              <a:pathLst>
                <a:path h="812800" w="1511086">
                  <a:moveTo>
                    <a:pt x="1511086" y="406400"/>
                  </a:moveTo>
                  <a:lnTo>
                    <a:pt x="1104686" y="0"/>
                  </a:lnTo>
                  <a:lnTo>
                    <a:pt x="110468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104686" y="609600"/>
                  </a:lnTo>
                  <a:lnTo>
                    <a:pt x="1104686" y="812800"/>
                  </a:lnTo>
                  <a:lnTo>
                    <a:pt x="1511086" y="4064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155575"/>
              <a:ext cx="140948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720213" y="2495419"/>
            <a:ext cx="401322" cy="215868"/>
            <a:chOff x="0" y="0"/>
            <a:chExt cx="1511086" cy="812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511086" cy="812800"/>
            </a:xfrm>
            <a:custGeom>
              <a:avLst/>
              <a:gdLst/>
              <a:ahLst/>
              <a:cxnLst/>
              <a:rect r="r" b="b" t="t" l="l"/>
              <a:pathLst>
                <a:path h="812800" w="1511086">
                  <a:moveTo>
                    <a:pt x="1511086" y="406400"/>
                  </a:moveTo>
                  <a:lnTo>
                    <a:pt x="1104686" y="0"/>
                  </a:lnTo>
                  <a:lnTo>
                    <a:pt x="110468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104686" y="609600"/>
                  </a:lnTo>
                  <a:lnTo>
                    <a:pt x="1104686" y="812800"/>
                  </a:lnTo>
                  <a:lnTo>
                    <a:pt x="1511086" y="4064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155575"/>
              <a:ext cx="140948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107" id="107"/>
          <p:cNvSpPr/>
          <p:nvPr/>
        </p:nvSpPr>
        <p:spPr>
          <a:xfrm flipH="false" flipV="false" rot="0">
            <a:off x="15112390" y="1425345"/>
            <a:ext cx="1768390" cy="2257668"/>
          </a:xfrm>
          <a:custGeom>
            <a:avLst/>
            <a:gdLst/>
            <a:ahLst/>
            <a:cxnLst/>
            <a:rect r="r" b="b" t="t" l="l"/>
            <a:pathLst>
              <a:path h="2257668" w="1768390">
                <a:moveTo>
                  <a:pt x="0" y="0"/>
                </a:moveTo>
                <a:lnTo>
                  <a:pt x="1768390" y="0"/>
                </a:lnTo>
                <a:lnTo>
                  <a:pt x="1768390" y="2257668"/>
                </a:lnTo>
                <a:lnTo>
                  <a:pt x="0" y="225766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grpSp>
        <p:nvGrpSpPr>
          <p:cNvPr name="Group 108" id="108"/>
          <p:cNvGrpSpPr/>
          <p:nvPr/>
        </p:nvGrpSpPr>
        <p:grpSpPr>
          <a:xfrm rot="0">
            <a:off x="15426335" y="1639403"/>
            <a:ext cx="1086674" cy="1086674"/>
            <a:chOff x="0" y="0"/>
            <a:chExt cx="812800" cy="8128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46D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11" id="111"/>
          <p:cNvSpPr/>
          <p:nvPr/>
        </p:nvSpPr>
        <p:spPr>
          <a:xfrm flipH="false" flipV="false" rot="0">
            <a:off x="15678046" y="1840174"/>
            <a:ext cx="685130" cy="685130"/>
          </a:xfrm>
          <a:custGeom>
            <a:avLst/>
            <a:gdLst/>
            <a:ahLst/>
            <a:cxnLst/>
            <a:rect r="r" b="b" t="t" l="l"/>
            <a:pathLst>
              <a:path h="685130" w="685130">
                <a:moveTo>
                  <a:pt x="0" y="0"/>
                </a:moveTo>
                <a:lnTo>
                  <a:pt x="685130" y="0"/>
                </a:lnTo>
                <a:lnTo>
                  <a:pt x="685130" y="685130"/>
                </a:lnTo>
                <a:lnTo>
                  <a:pt x="0" y="685130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12924558" y="6928142"/>
            <a:ext cx="2196977" cy="2482786"/>
            <a:chOff x="0" y="0"/>
            <a:chExt cx="578612" cy="65379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78612" cy="653796"/>
            </a:xfrm>
            <a:custGeom>
              <a:avLst/>
              <a:gdLst/>
              <a:ahLst/>
              <a:cxnLst/>
              <a:rect r="r" b="b" t="t" l="l"/>
              <a:pathLst>
                <a:path h="653796" w="578612">
                  <a:moveTo>
                    <a:pt x="578612" y="28191"/>
                  </a:moveTo>
                  <a:lnTo>
                    <a:pt x="578612" y="625605"/>
                  </a:lnTo>
                  <a:cubicBezTo>
                    <a:pt x="578612" y="633082"/>
                    <a:pt x="575642" y="640252"/>
                    <a:pt x="570355" y="645539"/>
                  </a:cubicBezTo>
                  <a:cubicBezTo>
                    <a:pt x="565068" y="650826"/>
                    <a:pt x="557898" y="653796"/>
                    <a:pt x="550421" y="653796"/>
                  </a:cubicBezTo>
                  <a:lnTo>
                    <a:pt x="28191" y="653796"/>
                  </a:lnTo>
                  <a:cubicBezTo>
                    <a:pt x="20714" y="653796"/>
                    <a:pt x="13544" y="650826"/>
                    <a:pt x="8257" y="645539"/>
                  </a:cubicBezTo>
                  <a:cubicBezTo>
                    <a:pt x="2970" y="640252"/>
                    <a:pt x="0" y="633082"/>
                    <a:pt x="0" y="625605"/>
                  </a:cubicBezTo>
                  <a:lnTo>
                    <a:pt x="0" y="28191"/>
                  </a:lnTo>
                  <a:cubicBezTo>
                    <a:pt x="0" y="12622"/>
                    <a:pt x="12622" y="0"/>
                    <a:pt x="28191" y="0"/>
                  </a:cubicBezTo>
                  <a:lnTo>
                    <a:pt x="550421" y="0"/>
                  </a:lnTo>
                  <a:cubicBezTo>
                    <a:pt x="565990" y="0"/>
                    <a:pt x="578612" y="12622"/>
                    <a:pt x="578612" y="28191"/>
                  </a:cubicBezTo>
                  <a:close/>
                </a:path>
              </a:pathLst>
            </a:custGeom>
            <a:solidFill>
              <a:srgbClr val="DDFEEE"/>
            </a:solid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578612" cy="70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3029274" y="7042442"/>
            <a:ext cx="481816" cy="481816"/>
            <a:chOff x="0" y="0"/>
            <a:chExt cx="812800" cy="8128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C964"/>
            </a:solidFill>
          </p:spPr>
        </p:sp>
        <p:sp>
          <p:nvSpPr>
            <p:cNvPr name="TextBox 117" id="11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984984" y="7648083"/>
            <a:ext cx="2070764" cy="1712461"/>
            <a:chOff x="0" y="0"/>
            <a:chExt cx="660400" cy="54613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60400" cy="546131"/>
            </a:xfrm>
            <a:custGeom>
              <a:avLst/>
              <a:gdLst/>
              <a:ahLst/>
              <a:cxnLst/>
              <a:rect r="r" b="b" t="t" l="l"/>
              <a:pathLst>
                <a:path h="546131" w="660400">
                  <a:moveTo>
                    <a:pt x="220252" y="527062"/>
                  </a:moveTo>
                  <a:cubicBezTo>
                    <a:pt x="254109" y="538576"/>
                    <a:pt x="292600" y="546131"/>
                    <a:pt x="330378" y="546131"/>
                  </a:cubicBezTo>
                  <a:cubicBezTo>
                    <a:pt x="368157" y="546131"/>
                    <a:pt x="404509" y="539654"/>
                    <a:pt x="438009" y="528141"/>
                  </a:cubicBezTo>
                  <a:cubicBezTo>
                    <a:pt x="438723" y="527781"/>
                    <a:pt x="439435" y="527781"/>
                    <a:pt x="440148" y="527422"/>
                  </a:cubicBezTo>
                  <a:cubicBezTo>
                    <a:pt x="565955" y="481366"/>
                    <a:pt x="658618" y="359753"/>
                    <a:pt x="660400" y="22355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23387"/>
                  </a:lnTo>
                  <a:cubicBezTo>
                    <a:pt x="1782" y="360471"/>
                    <a:pt x="93019" y="482087"/>
                    <a:pt x="220252" y="527062"/>
                  </a:cubicBezTo>
                  <a:close/>
                </a:path>
              </a:pathLst>
            </a:custGeom>
            <a:solidFill>
              <a:srgbClr val="F3FCF9"/>
            </a:solid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660400" cy="466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121" id="121"/>
          <p:cNvSpPr/>
          <p:nvPr/>
        </p:nvSpPr>
        <p:spPr>
          <a:xfrm flipH="false" flipV="false" rot="0">
            <a:off x="13126312" y="7705233"/>
            <a:ext cx="472448" cy="472448"/>
          </a:xfrm>
          <a:custGeom>
            <a:avLst/>
            <a:gdLst/>
            <a:ahLst/>
            <a:cxnLst/>
            <a:rect r="r" b="b" t="t" l="l"/>
            <a:pathLst>
              <a:path h="472448" w="472448">
                <a:moveTo>
                  <a:pt x="0" y="0"/>
                </a:moveTo>
                <a:lnTo>
                  <a:pt x="472448" y="0"/>
                </a:lnTo>
                <a:lnTo>
                  <a:pt x="472448" y="472448"/>
                </a:lnTo>
                <a:lnTo>
                  <a:pt x="0" y="472448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14180175" y="7611202"/>
            <a:ext cx="681890" cy="681890"/>
          </a:xfrm>
          <a:custGeom>
            <a:avLst/>
            <a:gdLst/>
            <a:ahLst/>
            <a:cxnLst/>
            <a:rect r="r" b="b" t="t" l="l"/>
            <a:pathLst>
              <a:path h="681890" w="681890">
                <a:moveTo>
                  <a:pt x="0" y="0"/>
                </a:moveTo>
                <a:lnTo>
                  <a:pt x="681890" y="0"/>
                </a:lnTo>
                <a:lnTo>
                  <a:pt x="681890" y="681890"/>
                </a:lnTo>
                <a:lnTo>
                  <a:pt x="0" y="681890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3760618" y="8468752"/>
            <a:ext cx="481022" cy="481022"/>
          </a:xfrm>
          <a:custGeom>
            <a:avLst/>
            <a:gdLst/>
            <a:ahLst/>
            <a:cxnLst/>
            <a:rect r="r" b="b" t="t" l="l"/>
            <a:pathLst>
              <a:path h="481022" w="481022">
                <a:moveTo>
                  <a:pt x="0" y="0"/>
                </a:moveTo>
                <a:lnTo>
                  <a:pt x="481023" y="0"/>
                </a:lnTo>
                <a:lnTo>
                  <a:pt x="481023" y="481023"/>
                </a:lnTo>
                <a:lnTo>
                  <a:pt x="0" y="481023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0" t="0" r="0" b="0"/>
            </a:stretch>
          </a:blipFill>
        </p:spPr>
      </p:sp>
      <p:sp>
        <p:nvSpPr>
          <p:cNvPr name="TextBox 124" id="124"/>
          <p:cNvSpPr txBox="true"/>
          <p:nvPr/>
        </p:nvSpPr>
        <p:spPr>
          <a:xfrm rot="0">
            <a:off x="803262" y="2787119"/>
            <a:ext cx="1055390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3377451" y="2751801"/>
            <a:ext cx="983456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9144742" y="2755733"/>
            <a:ext cx="1221383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Model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Sorting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7014301" y="2901499"/>
            <a:ext cx="1300857" cy="51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3"/>
              </a:lnSpc>
            </a:pPr>
            <a:r>
              <a:rPr lang="en-US" sz="1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</a:t>
            </a:r>
          </a:p>
          <a:p>
            <a:pPr algn="ctr">
              <a:lnSpc>
                <a:spcPts val="2073"/>
              </a:lnSpc>
            </a:pPr>
            <a:r>
              <a:rPr lang="en-US" sz="1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Submits Solution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5038298" y="2821338"/>
            <a:ext cx="1079063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2937358" y="2575973"/>
            <a:ext cx="1157486" cy="89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&amp;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96523" y="4208728"/>
            <a:ext cx="2088356" cy="39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2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Layer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841751" y="5796316"/>
            <a:ext cx="1004193" cy="64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sz="1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Mock Data</a:t>
            </a:r>
          </a:p>
          <a:p>
            <a:pPr algn="ctr">
              <a:lnSpc>
                <a:spcPts val="2476"/>
              </a:lnSpc>
            </a:pPr>
            <a:r>
              <a:rPr lang="en-US" sz="1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876639" y="5182271"/>
            <a:ext cx="959148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DPIIT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Verificaton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2868497" y="5719445"/>
            <a:ext cx="491927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MCA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0527916" y="4546918"/>
            <a:ext cx="88761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StartUp01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0545180" y="5142334"/>
            <a:ext cx="88761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StartUp02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0521980" y="5678821"/>
            <a:ext cx="88761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StartUp03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3088699" y="4424838"/>
            <a:ext cx="133717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 Evaluation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3179465" y="4857908"/>
            <a:ext cx="98365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MileStones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3152060" y="5374323"/>
            <a:ext cx="1217116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Report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086080" y="5893117"/>
            <a:ext cx="863302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783677" y="4744478"/>
            <a:ext cx="1522809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in Database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8040984" y="5079048"/>
            <a:ext cx="1055588" cy="89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pgVector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4986352" y="5960275"/>
            <a:ext cx="1175345" cy="43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!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5874914" y="5852791"/>
            <a:ext cx="926902" cy="43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4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649076" y="8950431"/>
            <a:ext cx="2142827" cy="39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252" b="true">
                <a:solidFill>
                  <a:srgbClr val="E300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Stack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1105801" y="2709829"/>
            <a:ext cx="1344999" cy="61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7"/>
              </a:lnSpc>
            </a:pPr>
            <a:r>
              <a:rPr lang="en-US" sz="17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Evaluation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5001153" y="2787119"/>
            <a:ext cx="2066682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based payment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3698079" y="7080542"/>
            <a:ext cx="930081" cy="35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</a:pPr>
            <a:r>
              <a:rPr lang="en-US" b="true" sz="2060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3179465" y="7004342"/>
            <a:ext cx="757028" cy="47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  <a:spcBef>
                <a:spcPct val="0"/>
              </a:spcBef>
            </a:pPr>
            <a:r>
              <a:rPr lang="en-US" b="true" sz="26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3169820" y="8149752"/>
            <a:ext cx="347911" cy="22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b="true" sz="1264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JWT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3742908" y="8148280"/>
            <a:ext cx="1312840" cy="24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4"/>
              </a:lnSpc>
            </a:pPr>
            <a:r>
              <a:rPr lang="en-US" sz="1324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Payment Gateway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3430108" y="8980622"/>
            <a:ext cx="1198052" cy="27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1"/>
              </a:lnSpc>
              <a:spcBef>
                <a:spcPct val="0"/>
              </a:spcBef>
            </a:pPr>
            <a:r>
              <a:rPr lang="en-US" b="true" sz="1551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87753" y="-285244"/>
            <a:ext cx="11069729" cy="1714500"/>
            <a:chOff x="0" y="0"/>
            <a:chExt cx="14759639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59639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759639">
                  <a:moveTo>
                    <a:pt x="0" y="0"/>
                  </a:moveTo>
                  <a:lnTo>
                    <a:pt x="14759639" y="0"/>
                  </a:lnTo>
                  <a:lnTo>
                    <a:pt x="1475963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48686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759639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344527" y="1800281"/>
            <a:ext cx="261957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4671" y="2305106"/>
            <a:ext cx="349230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we build and implementn it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354128" y="1920161"/>
            <a:ext cx="5300903" cy="1002668"/>
            <a:chOff x="0" y="0"/>
            <a:chExt cx="2064931" cy="3905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4931" cy="390583"/>
            </a:xfrm>
            <a:custGeom>
              <a:avLst/>
              <a:gdLst/>
              <a:ahLst/>
              <a:cxnLst/>
              <a:rect r="r" b="b" t="t" l="l"/>
              <a:pathLst>
                <a:path h="390583" w="2064931">
                  <a:moveTo>
                    <a:pt x="1861731" y="0"/>
                  </a:moveTo>
                  <a:cubicBezTo>
                    <a:pt x="1973955" y="0"/>
                    <a:pt x="2064931" y="87435"/>
                    <a:pt x="2064931" y="195291"/>
                  </a:cubicBezTo>
                  <a:cubicBezTo>
                    <a:pt x="2064931" y="303148"/>
                    <a:pt x="1973955" y="390583"/>
                    <a:pt x="1861731" y="390583"/>
                  </a:cubicBezTo>
                  <a:lnTo>
                    <a:pt x="203200" y="390583"/>
                  </a:lnTo>
                  <a:cubicBezTo>
                    <a:pt x="90976" y="390583"/>
                    <a:pt x="0" y="303148"/>
                    <a:pt x="0" y="195291"/>
                  </a:cubicBezTo>
                  <a:cubicBezTo>
                    <a:pt x="0" y="874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4457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064931" cy="409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54128" y="1900763"/>
            <a:ext cx="1035548" cy="103554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61353" y="1903721"/>
            <a:ext cx="1035548" cy="103554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457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479965" y="2129109"/>
            <a:ext cx="587752" cy="587752"/>
          </a:xfrm>
          <a:custGeom>
            <a:avLst/>
            <a:gdLst/>
            <a:ahLst/>
            <a:cxnLst/>
            <a:rect r="r" b="b" t="t" l="l"/>
            <a:pathLst>
              <a:path h="587752" w="587752">
                <a:moveTo>
                  <a:pt x="0" y="0"/>
                </a:moveTo>
                <a:lnTo>
                  <a:pt x="587751" y="0"/>
                </a:lnTo>
                <a:lnTo>
                  <a:pt x="587751" y="587751"/>
                </a:lnTo>
                <a:lnTo>
                  <a:pt x="0" y="5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088028" y="6644804"/>
            <a:ext cx="783874" cy="783874"/>
            <a:chOff x="0" y="0"/>
            <a:chExt cx="640575" cy="6405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345628" y="1960934"/>
            <a:ext cx="5300903" cy="1002668"/>
            <a:chOff x="0" y="0"/>
            <a:chExt cx="2064931" cy="3905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64931" cy="390583"/>
            </a:xfrm>
            <a:custGeom>
              <a:avLst/>
              <a:gdLst/>
              <a:ahLst/>
              <a:cxnLst/>
              <a:rect r="r" b="b" t="t" l="l"/>
              <a:pathLst>
                <a:path h="390583" w="2064931">
                  <a:moveTo>
                    <a:pt x="1861731" y="0"/>
                  </a:moveTo>
                  <a:cubicBezTo>
                    <a:pt x="1973955" y="0"/>
                    <a:pt x="2064931" y="87435"/>
                    <a:pt x="2064931" y="195291"/>
                  </a:cubicBezTo>
                  <a:cubicBezTo>
                    <a:pt x="2064931" y="303148"/>
                    <a:pt x="1973955" y="390583"/>
                    <a:pt x="1861731" y="390583"/>
                  </a:cubicBezTo>
                  <a:lnTo>
                    <a:pt x="203200" y="390583"/>
                  </a:lnTo>
                  <a:cubicBezTo>
                    <a:pt x="90976" y="390583"/>
                    <a:pt x="0" y="303148"/>
                    <a:pt x="0" y="195291"/>
                  </a:cubicBezTo>
                  <a:cubicBezTo>
                    <a:pt x="0" y="8743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29E7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064931" cy="409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14265" y="1920161"/>
            <a:ext cx="1035548" cy="103554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308285" y="1928054"/>
            <a:ext cx="1035548" cy="103554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9E7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479965" y="7820279"/>
            <a:ext cx="4777896" cy="939346"/>
            <a:chOff x="0" y="0"/>
            <a:chExt cx="2492200" cy="4899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92200" cy="489973"/>
            </a:xfrm>
            <a:custGeom>
              <a:avLst/>
              <a:gdLst/>
              <a:ahLst/>
              <a:cxnLst/>
              <a:rect r="r" b="b" t="t" l="l"/>
              <a:pathLst>
                <a:path h="489973" w="2492200">
                  <a:moveTo>
                    <a:pt x="2289000" y="0"/>
                  </a:moveTo>
                  <a:cubicBezTo>
                    <a:pt x="2401225" y="0"/>
                    <a:pt x="2492200" y="109684"/>
                    <a:pt x="2492200" y="244986"/>
                  </a:cubicBezTo>
                  <a:cubicBezTo>
                    <a:pt x="2492200" y="380288"/>
                    <a:pt x="2401225" y="489973"/>
                    <a:pt x="2289000" y="489973"/>
                  </a:cubicBezTo>
                  <a:lnTo>
                    <a:pt x="203200" y="489973"/>
                  </a:lnTo>
                  <a:cubicBezTo>
                    <a:pt x="90976" y="489973"/>
                    <a:pt x="0" y="380288"/>
                    <a:pt x="0" y="244986"/>
                  </a:cubicBezTo>
                  <a:cubicBezTo>
                    <a:pt x="0" y="10968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1EFF9">
                <a:alpha val="64706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492200" cy="50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588880" y="7889554"/>
            <a:ext cx="800796" cy="800796"/>
          </a:xfrm>
          <a:custGeom>
            <a:avLst/>
            <a:gdLst/>
            <a:ahLst/>
            <a:cxnLst/>
            <a:rect r="r" b="b" t="t" l="l"/>
            <a:pathLst>
              <a:path h="800796" w="800796">
                <a:moveTo>
                  <a:pt x="0" y="0"/>
                </a:moveTo>
                <a:lnTo>
                  <a:pt x="800796" y="0"/>
                </a:lnTo>
                <a:lnTo>
                  <a:pt x="800796" y="800796"/>
                </a:lnTo>
                <a:lnTo>
                  <a:pt x="0" y="8007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42" id="42"/>
          <p:cNvSpPr/>
          <p:nvPr/>
        </p:nvSpPr>
        <p:spPr>
          <a:xfrm>
            <a:off x="4131935" y="8594300"/>
            <a:ext cx="1044758" cy="0"/>
          </a:xfrm>
          <a:prstGeom prst="line">
            <a:avLst/>
          </a:prstGeom>
          <a:ln cap="flat" w="38100">
            <a:solidFill>
              <a:srgbClr val="129E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0414265" y="2013692"/>
            <a:ext cx="730045" cy="730045"/>
          </a:xfrm>
          <a:custGeom>
            <a:avLst/>
            <a:gdLst/>
            <a:ahLst/>
            <a:cxnLst/>
            <a:rect r="r" b="b" t="t" l="l"/>
            <a:pathLst>
              <a:path h="730045" w="730045">
                <a:moveTo>
                  <a:pt x="0" y="0"/>
                </a:moveTo>
                <a:lnTo>
                  <a:pt x="730045" y="0"/>
                </a:lnTo>
                <a:lnTo>
                  <a:pt x="730045" y="730046"/>
                </a:lnTo>
                <a:lnTo>
                  <a:pt x="0" y="7300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0027320" y="6686121"/>
            <a:ext cx="783874" cy="783874"/>
            <a:chOff x="0" y="0"/>
            <a:chExt cx="640575" cy="6405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99081" y="7896365"/>
            <a:ext cx="4777896" cy="939346"/>
            <a:chOff x="0" y="0"/>
            <a:chExt cx="2492200" cy="48997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92200" cy="489973"/>
            </a:xfrm>
            <a:custGeom>
              <a:avLst/>
              <a:gdLst/>
              <a:ahLst/>
              <a:cxnLst/>
              <a:rect r="r" b="b" t="t" l="l"/>
              <a:pathLst>
                <a:path h="489973" w="2492200">
                  <a:moveTo>
                    <a:pt x="2289000" y="0"/>
                  </a:moveTo>
                  <a:cubicBezTo>
                    <a:pt x="2401225" y="0"/>
                    <a:pt x="2492200" y="109684"/>
                    <a:pt x="2492200" y="244986"/>
                  </a:cubicBezTo>
                  <a:cubicBezTo>
                    <a:pt x="2492200" y="380288"/>
                    <a:pt x="2401225" y="489973"/>
                    <a:pt x="2289000" y="489973"/>
                  </a:cubicBezTo>
                  <a:lnTo>
                    <a:pt x="203200" y="489973"/>
                  </a:lnTo>
                  <a:cubicBezTo>
                    <a:pt x="90976" y="489973"/>
                    <a:pt x="0" y="380288"/>
                    <a:pt x="0" y="244986"/>
                  </a:cubicBezTo>
                  <a:cubicBezTo>
                    <a:pt x="0" y="10968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BF63">
                <a:alpha val="43922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492200" cy="50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>
            <a:off x="11951051" y="8670385"/>
            <a:ext cx="1044758" cy="0"/>
          </a:xfrm>
          <a:prstGeom prst="line">
            <a:avLst/>
          </a:prstGeom>
          <a:ln cap="flat" w="38100">
            <a:solidFill>
              <a:srgbClr val="129E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0448634" y="7953515"/>
            <a:ext cx="786610" cy="786610"/>
          </a:xfrm>
          <a:custGeom>
            <a:avLst/>
            <a:gdLst/>
            <a:ahLst/>
            <a:cxnLst/>
            <a:rect r="r" b="b" t="t" l="l"/>
            <a:pathLst>
              <a:path h="786610" w="786610">
                <a:moveTo>
                  <a:pt x="0" y="0"/>
                </a:moveTo>
                <a:lnTo>
                  <a:pt x="786610" y="0"/>
                </a:lnTo>
                <a:lnTo>
                  <a:pt x="786610" y="786609"/>
                </a:lnTo>
                <a:lnTo>
                  <a:pt x="0" y="7866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042569" y="5521671"/>
            <a:ext cx="736719" cy="707250"/>
          </a:xfrm>
          <a:custGeom>
            <a:avLst/>
            <a:gdLst/>
            <a:ahLst/>
            <a:cxnLst/>
            <a:rect r="r" b="b" t="t" l="l"/>
            <a:pathLst>
              <a:path h="707250" w="736719">
                <a:moveTo>
                  <a:pt x="0" y="0"/>
                </a:moveTo>
                <a:lnTo>
                  <a:pt x="736719" y="0"/>
                </a:lnTo>
                <a:lnTo>
                  <a:pt x="736719" y="707250"/>
                </a:lnTo>
                <a:lnTo>
                  <a:pt x="0" y="70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2166189" y="5521671"/>
            <a:ext cx="587906" cy="744185"/>
          </a:xfrm>
          <a:custGeom>
            <a:avLst/>
            <a:gdLst/>
            <a:ahLst/>
            <a:cxnLst/>
            <a:rect r="r" b="b" t="t" l="l"/>
            <a:pathLst>
              <a:path h="744185" w="587906">
                <a:moveTo>
                  <a:pt x="0" y="0"/>
                </a:moveTo>
                <a:lnTo>
                  <a:pt x="587907" y="0"/>
                </a:lnTo>
                <a:lnTo>
                  <a:pt x="587907" y="744185"/>
                </a:lnTo>
                <a:lnTo>
                  <a:pt x="0" y="7441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70468" y="3148312"/>
            <a:ext cx="779350" cy="779350"/>
          </a:xfrm>
          <a:custGeom>
            <a:avLst/>
            <a:gdLst/>
            <a:ahLst/>
            <a:cxnLst/>
            <a:rect r="r" b="b" t="t" l="l"/>
            <a:pathLst>
              <a:path h="779350" w="779350">
                <a:moveTo>
                  <a:pt x="0" y="0"/>
                </a:moveTo>
                <a:lnTo>
                  <a:pt x="779349" y="0"/>
                </a:lnTo>
                <a:lnTo>
                  <a:pt x="779349" y="779350"/>
                </a:lnTo>
                <a:lnTo>
                  <a:pt x="0" y="779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0091991" y="4355576"/>
            <a:ext cx="687297" cy="683860"/>
          </a:xfrm>
          <a:custGeom>
            <a:avLst/>
            <a:gdLst/>
            <a:ahLst/>
            <a:cxnLst/>
            <a:rect r="r" b="b" t="t" l="l"/>
            <a:pathLst>
              <a:path h="683860" w="687297">
                <a:moveTo>
                  <a:pt x="0" y="0"/>
                </a:moveTo>
                <a:lnTo>
                  <a:pt x="687297" y="0"/>
                </a:lnTo>
                <a:lnTo>
                  <a:pt x="687297" y="683861"/>
                </a:lnTo>
                <a:lnTo>
                  <a:pt x="0" y="683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0042569" y="3204857"/>
            <a:ext cx="686664" cy="722805"/>
          </a:xfrm>
          <a:custGeom>
            <a:avLst/>
            <a:gdLst/>
            <a:ahLst/>
            <a:cxnLst/>
            <a:rect r="r" b="b" t="t" l="l"/>
            <a:pathLst>
              <a:path h="722805" w="686664">
                <a:moveTo>
                  <a:pt x="0" y="0"/>
                </a:moveTo>
                <a:lnTo>
                  <a:pt x="686664" y="0"/>
                </a:lnTo>
                <a:lnTo>
                  <a:pt x="686664" y="722805"/>
                </a:lnTo>
                <a:lnTo>
                  <a:pt x="0" y="7228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2081067" y="4355576"/>
            <a:ext cx="768750" cy="707250"/>
          </a:xfrm>
          <a:custGeom>
            <a:avLst/>
            <a:gdLst/>
            <a:ahLst/>
            <a:cxnLst/>
            <a:rect r="r" b="b" t="t" l="l"/>
            <a:pathLst>
              <a:path h="707250" w="768750">
                <a:moveTo>
                  <a:pt x="0" y="0"/>
                </a:moveTo>
                <a:lnTo>
                  <a:pt x="768750" y="0"/>
                </a:lnTo>
                <a:lnTo>
                  <a:pt x="768750" y="707250"/>
                </a:lnTo>
                <a:lnTo>
                  <a:pt x="0" y="70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>
            <a:hlinkClick r:id="rId23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3217459" y="4759454"/>
            <a:ext cx="452982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1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roles for Government, Startups, Experts, Admin and Citizens with defined workflows.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217459" y="5939954"/>
            <a:ext cx="452982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1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documents, government challenge data and startup submissions can be securely stored with audit logs.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217459" y="5597054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Feasible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780925" y="2052693"/>
            <a:ext cx="258068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780925" y="2569223"/>
            <a:ext cx="317165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"/>
              </a:lnSpc>
            </a:pPr>
            <a:r>
              <a:rPr lang="en-US" sz="16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we build and implement it?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217459" y="3212537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Technically Feasible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225775" y="3507812"/>
            <a:ext cx="452982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1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and proven technologies: React/Typescript, Node.js, PostgreSQL + pgvector, LlamaIndex and Gemini APIs.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217459" y="4441262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Operationally Feasible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217459" y="6754036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Feasible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217459" y="7120454"/>
            <a:ext cx="452982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1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Modular, API-first and prototype-ready design enables phased development.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344527" y="7863404"/>
            <a:ext cx="305801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have what it takes. </a:t>
            </a:r>
          </a:p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building blocks exist.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161695" y="2110059"/>
            <a:ext cx="213550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VIABILITY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736030" y="2581331"/>
            <a:ext cx="468081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"/>
              </a:lnSpc>
            </a:pPr>
            <a:r>
              <a:rPr lang="en-US" sz="16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it be adopted, operated and scaled?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033918" y="3212537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 Adoption Potential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004510" y="3516675"/>
            <a:ext cx="45298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0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Solves real government problems and gives startups a clear path from pilot to procurement.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004510" y="4392706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Cost-Effective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004510" y="4697165"/>
            <a:ext cx="45298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0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existing infrastructure and open-source tools to reduce development and operational costs.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043122" y="5516315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Scalable Model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04510" y="5877665"/>
            <a:ext cx="45298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0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Modular, cloud-ready and replicable across departments and states.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033918" y="6753965"/>
            <a:ext cx="45298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896" b="true">
                <a:solidFill>
                  <a:srgbClr val="1C30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Long-Term Value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004510" y="7058165"/>
            <a:ext cx="452982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0">
                <a:solidFill>
                  <a:srgbClr val="5268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public service delivery and creates measurable social and economic impact.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70686" y="9146200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186647" y="9146200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PILOT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755598" y="9146200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375300" y="9005349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159024" y="7966102"/>
            <a:ext cx="305801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 just possible.</a:t>
            </a:r>
          </a:p>
          <a:p>
            <a:pPr algn="ctr">
              <a:lnSpc>
                <a:spcPts val="2495"/>
              </a:lnSpc>
            </a:pPr>
            <a:r>
              <a:rPr lang="en-US" sz="2079" b="true">
                <a:solidFill>
                  <a:srgbClr val="12376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Built for long-term impact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773907" y="9081435"/>
            <a:ext cx="130403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PILOT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1818" y="-410508"/>
            <a:ext cx="9246965" cy="1714500"/>
            <a:chOff x="0" y="0"/>
            <a:chExt cx="12329286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29286" cy="2286000"/>
            </a:xfrm>
            <a:custGeom>
              <a:avLst/>
              <a:gdLst/>
              <a:ahLst/>
              <a:cxnLst/>
              <a:rect r="r" b="b" t="t" l="l"/>
              <a:pathLst>
                <a:path h="2286000" w="12329286">
                  <a:moveTo>
                    <a:pt x="0" y="0"/>
                  </a:moveTo>
                  <a:lnTo>
                    <a:pt x="12329286" y="0"/>
                  </a:lnTo>
                  <a:lnTo>
                    <a:pt x="12329286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834" r="0" b="-8483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329286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>
            <a:hlinkClick r:id="rId6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88823" y="2860358"/>
            <a:ext cx="8938380" cy="5958920"/>
          </a:xfrm>
          <a:custGeom>
            <a:avLst/>
            <a:gdLst/>
            <a:ahLst/>
            <a:cxnLst/>
            <a:rect r="r" b="b" t="t" l="l"/>
            <a:pathLst>
              <a:path h="5958920" w="8938380">
                <a:moveTo>
                  <a:pt x="0" y="0"/>
                </a:moveTo>
                <a:lnTo>
                  <a:pt x="8938380" y="0"/>
                </a:lnTo>
                <a:lnTo>
                  <a:pt x="8938380" y="5958920"/>
                </a:lnTo>
                <a:lnTo>
                  <a:pt x="0" y="5958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900903" y="2860358"/>
            <a:ext cx="9144000" cy="6096000"/>
          </a:xfrm>
          <a:custGeom>
            <a:avLst/>
            <a:gdLst/>
            <a:ahLst/>
            <a:cxnLst/>
            <a:rect r="r" b="b" t="t" l="l"/>
            <a:pathLst>
              <a:path h="6096000" w="9144000">
                <a:moveTo>
                  <a:pt x="0" y="0"/>
                </a:moveTo>
                <a:lnTo>
                  <a:pt x="9144000" y="0"/>
                </a:lnTo>
                <a:lnTo>
                  <a:pt x="9144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686021" y="1970880"/>
            <a:ext cx="1384548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 </a:t>
            </a:r>
            <a:r>
              <a:rPr lang="en-US" b="true" sz="315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GOVERNMENT CHALLENGES TO </a:t>
            </a:r>
            <a:r>
              <a:rPr lang="en-US" sz="3152" b="true">
                <a:solidFill>
                  <a:srgbClr val="00BF1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 - WORLD SOLUTIONS</a:t>
            </a:r>
            <a:r>
              <a:rPr lang="en-US" b="true" sz="315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9799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33582" y="-412756"/>
            <a:ext cx="11236547" cy="1714500"/>
            <a:chOff x="0" y="0"/>
            <a:chExt cx="14982063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206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982062">
                  <a:moveTo>
                    <a:pt x="0" y="0"/>
                  </a:moveTo>
                  <a:lnTo>
                    <a:pt x="14982062" y="0"/>
                  </a:lnTo>
                  <a:lnTo>
                    <a:pt x="1498206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845" r="0" b="-1138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982063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69218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692180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159903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>
            <a:hlinkClick r:id="rId6" tooltip="https://github.com/deotareatharva-hub/GovInnovation-Prototype"/>
          </p:cNvPr>
          <p:cNvSpPr/>
          <p:nvPr/>
        </p:nvSpPr>
        <p:spPr>
          <a:xfrm flipH="false" flipV="false" rot="0">
            <a:off x="6327285" y="7248926"/>
            <a:ext cx="1801449" cy="1801449"/>
          </a:xfrm>
          <a:custGeom>
            <a:avLst/>
            <a:gdLst/>
            <a:ahLst/>
            <a:cxnLst/>
            <a:rect r="r" b="b" t="t" l="l"/>
            <a:pathLst>
              <a:path h="1801449" w="1801449">
                <a:moveTo>
                  <a:pt x="0" y="0"/>
                </a:moveTo>
                <a:lnTo>
                  <a:pt x="1801448" y="0"/>
                </a:lnTo>
                <a:lnTo>
                  <a:pt x="1801448" y="1801448"/>
                </a:lnTo>
                <a:lnTo>
                  <a:pt x="0" y="1801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>
            <a:hlinkClick r:id="rId8" tooltip="https://docs.google.com/document/d/1Rz0F5dO9EFZV1S-7FZeMsmbT5QkxaS8h/edit?usp=sharing&amp;ouid=113236038995270870263&amp;rtpof=true&amp;sd=true"/>
          </p:cNvPr>
          <p:cNvSpPr/>
          <p:nvPr/>
        </p:nvSpPr>
        <p:spPr>
          <a:xfrm flipH="false" flipV="false" rot="0">
            <a:off x="8433533" y="7166840"/>
            <a:ext cx="1883534" cy="1883534"/>
          </a:xfrm>
          <a:custGeom>
            <a:avLst/>
            <a:gdLst/>
            <a:ahLst/>
            <a:cxnLst/>
            <a:rect r="r" b="b" t="t" l="l"/>
            <a:pathLst>
              <a:path h="1883534" w="1883534">
                <a:moveTo>
                  <a:pt x="0" y="0"/>
                </a:moveTo>
                <a:lnTo>
                  <a:pt x="1883534" y="0"/>
                </a:lnTo>
                <a:lnTo>
                  <a:pt x="1883534" y="1883534"/>
                </a:lnTo>
                <a:lnTo>
                  <a:pt x="0" y="18835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>
            <a:hlinkClick r:id="rId10" tooltip="https://lazycoder-s-portfolio.onrender.com"/>
          </p:cNvPr>
          <p:cNvSpPr/>
          <p:nvPr/>
        </p:nvSpPr>
        <p:spPr>
          <a:xfrm flipH="false" flipV="false" rot="0">
            <a:off x="28324" y="56649"/>
            <a:ext cx="1245095" cy="1245095"/>
          </a:xfrm>
          <a:custGeom>
            <a:avLst/>
            <a:gdLst/>
            <a:ahLst/>
            <a:cxnLst/>
            <a:rect r="r" b="b" t="t" l="l"/>
            <a:pathLst>
              <a:path h="1245095" w="1245095">
                <a:moveTo>
                  <a:pt x="0" y="0"/>
                </a:moveTo>
                <a:lnTo>
                  <a:pt x="1245096" y="0"/>
                </a:lnTo>
                <a:lnTo>
                  <a:pt x="1245096" y="1245095"/>
                </a:lnTo>
                <a:lnTo>
                  <a:pt x="0" y="12450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>
            <a:hlinkClick r:id="rId12" tooltip="https://gov-innovation-prototype.vercel.app"/>
          </p:cNvPr>
          <p:cNvSpPr/>
          <p:nvPr/>
        </p:nvSpPr>
        <p:spPr>
          <a:xfrm flipH="false" flipV="false" rot="0">
            <a:off x="10623649" y="6973164"/>
            <a:ext cx="2309302" cy="2142579"/>
          </a:xfrm>
          <a:custGeom>
            <a:avLst/>
            <a:gdLst/>
            <a:ahLst/>
            <a:cxnLst/>
            <a:rect r="r" b="b" t="t" l="l"/>
            <a:pathLst>
              <a:path h="2142579" w="2309302">
                <a:moveTo>
                  <a:pt x="0" y="0"/>
                </a:moveTo>
                <a:lnTo>
                  <a:pt x="2309303" y="0"/>
                </a:lnTo>
                <a:lnTo>
                  <a:pt x="2309303" y="2142578"/>
                </a:lnTo>
                <a:lnTo>
                  <a:pt x="0" y="21425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25008" y="3784639"/>
            <a:ext cx="349203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0872" y="4270827"/>
            <a:ext cx="15389202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 tooltip="https://msins.in"/>
              </a:rPr>
              <a:t>Maharashtra State Innovation Society (MSInS)</a:t>
            </a: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</a:t>
            </a: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 tooltip="https://msins.in"/>
              </a:rPr>
              <a:t>https://msins.in/</a:t>
            </a:r>
          </a:p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for Procurement of Goods – 2024 — </a:t>
            </a: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 tooltip="https://doe.gov.in/manuals?utm_source=chatgpt.com"/>
              </a:rPr>
              <a:t>https://doe.gov.in/manuals</a:t>
            </a:r>
          </a:p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Financial Rules (GFR), 2017 — </a:t>
            </a: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 tooltip="https://doe.gov.in/bi-annual-compilationupdation-general-financial-rules-2017-upto-31012026general-financial-rules?utm_source=chatgpt.com"/>
              </a:rPr>
              <a:t>https://doe.gov.in/bi-annual-compilationupdation-general-financial-rules-2017-upto-31012026general-financial-rule</a:t>
            </a: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Startup India – Public Procurement — </a:t>
            </a: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7" tooltip="https://www.startupindia.gov.in/content/sih/en/public_procurement.html?utm_source=chatgpt.com"/>
              </a:rPr>
              <a:t>https://www.startupindia.gov.in/content/sih/en/public_procurement.htm</a:t>
            </a:r>
            <a:r>
              <a:rPr lang="en-US" sz="2256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</a:p>
          <a:p>
            <a:pPr algn="l" marL="487142" indent="-243571" lvl="1">
              <a:lnSpc>
                <a:spcPts val="2707"/>
              </a:lnSpc>
              <a:buFont typeface="Arial"/>
              <a:buChar char="•"/>
            </a:pPr>
            <a:r>
              <a:rPr lang="en-US" sz="2256" u="sng">
                <a:solidFill>
                  <a:srgbClr val="1C304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 tooltip="https://gem.gov.in"/>
              </a:rPr>
              <a:t>GeM— https://gem.gov.in/</a:t>
            </a:r>
          </a:p>
          <a:p>
            <a:pPr algn="l">
              <a:lnSpc>
                <a:spcPts val="2707"/>
              </a:lnSpc>
            </a:pPr>
          </a:p>
          <a:p>
            <a:pPr algn="l">
              <a:lnSpc>
                <a:spcPts val="27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50872" y="1666413"/>
            <a:ext cx="376159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RESEARCH PAPER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8752" y="2135988"/>
            <a:ext cx="16669593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094" indent="-245047" lvl="1">
              <a:lnSpc>
                <a:spcPts val="2724"/>
              </a:lnSpc>
              <a:buFont typeface="Arial"/>
              <a:buChar char="•"/>
            </a:pPr>
            <a:r>
              <a:rPr lang="en-US" sz="2270">
                <a:solidFill>
                  <a:srgbClr val="0302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Strengthening Startup Engagement in Public Procurement: An Incubator-Led Approach to GeM Enablement in India- </a:t>
            </a:r>
            <a:r>
              <a:rPr lang="en-US" sz="2270" u="sng">
                <a:solidFill>
                  <a:srgbClr val="03020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9" tooltip="https://papers.ssrn.com/sol3/papers.cfm?abstract_id=6530078"/>
              </a:rPr>
              <a:t>https://papers.ssrn.com/sol3/papers.cfm?abstract_id=6530078</a:t>
            </a:r>
          </a:p>
          <a:p>
            <a:pPr algn="l" marL="490094" indent="-245047" lvl="1">
              <a:lnSpc>
                <a:spcPts val="2724"/>
              </a:lnSpc>
              <a:buFont typeface="Arial"/>
              <a:buChar char="•"/>
            </a:pPr>
            <a:r>
              <a:rPr lang="en-US" sz="2270">
                <a:solidFill>
                  <a:srgbClr val="0302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Recent Advances in Public Procurement: An Exploration of the Government e-Marketplace in India--</a:t>
            </a:r>
            <a:r>
              <a:rPr lang="en-US" sz="2270" u="sng">
                <a:solidFill>
                  <a:srgbClr val="03020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0" tooltip="https://onlinelibrary.wiley.com/doi/abs/10.1002/pad.2113"/>
              </a:rPr>
              <a:t>https://onlinelibrary.wiley.com/doi/abs/10.1002/pad.2113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04159" y="9058592"/>
            <a:ext cx="1447701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 Repo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13549" y="9058592"/>
            <a:ext cx="72350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71342" y="9058592"/>
            <a:ext cx="1013916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DAHUseFtFEY</dc:identifier>
  <dcterms:modified xsi:type="dcterms:W3CDTF">2011-08-01T06:04:30Z</dcterms:modified>
  <cp:revision>1</cp:revision>
  <dc:title>Problem Statement ID – Problem Statement Title- Theme- PS Category- Software/Hardware Team ID- Team Name (Registered on portal)</dc:title>
</cp:coreProperties>
</file>