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Times New Roman" charset="1" panose="020206030504050203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https://lazycoder-s-portfolio.onrender.com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png" Type="http://schemas.openxmlformats.org/officeDocument/2006/relationships/image"/><Relationship Id="rId12" Target="../media/image16.png" Type="http://schemas.openxmlformats.org/officeDocument/2006/relationships/image"/><Relationship Id="rId13" Target="../media/image17.png" Type="http://schemas.openxmlformats.org/officeDocument/2006/relationships/image"/><Relationship Id="rId14" Target="../media/image18.svg" Type="http://schemas.openxmlformats.org/officeDocument/2006/relationships/image"/><Relationship Id="rId15" Target="../media/image19.png" Type="http://schemas.openxmlformats.org/officeDocument/2006/relationships/image"/><Relationship Id="rId16" Target="../media/image20.png" Type="http://schemas.openxmlformats.org/officeDocument/2006/relationships/image"/><Relationship Id="rId17" Target="../media/image21.png" Type="http://schemas.openxmlformats.org/officeDocument/2006/relationships/image"/><Relationship Id="rId18" Target="../media/image22.png" Type="http://schemas.openxmlformats.org/officeDocument/2006/relationships/image"/><Relationship Id="rId19" Target="../media/image23.svg" Type="http://schemas.openxmlformats.org/officeDocument/2006/relationships/image"/><Relationship Id="rId2" Target="../media/image4.jpeg" Type="http://schemas.openxmlformats.org/officeDocument/2006/relationships/image"/><Relationship Id="rId20" Target="../media/image24.png" Type="http://schemas.openxmlformats.org/officeDocument/2006/relationships/image"/><Relationship Id="rId21" Target="../media/image25.svg" Type="http://schemas.openxmlformats.org/officeDocument/2006/relationships/image"/><Relationship Id="rId22" Target="../media/image26.png" Type="http://schemas.openxmlformats.org/officeDocument/2006/relationships/image"/><Relationship Id="rId23" Target="../media/image27.png" Type="http://schemas.openxmlformats.org/officeDocument/2006/relationships/image"/><Relationship Id="rId24" Target="../media/image28.png" Type="http://schemas.openxmlformats.org/officeDocument/2006/relationships/image"/><Relationship Id="rId25" Target="../media/image29.svg" Type="http://schemas.openxmlformats.org/officeDocument/2006/relationships/image"/><Relationship Id="rId26" Target="../media/image30.png" Type="http://schemas.openxmlformats.org/officeDocument/2006/relationships/image"/><Relationship Id="rId27" Target="../media/image31.png" Type="http://schemas.openxmlformats.org/officeDocument/2006/relationships/image"/><Relationship Id="rId28" Target="../media/image32.svg" Type="http://schemas.openxmlformats.org/officeDocument/2006/relationships/image"/><Relationship Id="rId29" Target="../media/image33.png" Type="http://schemas.openxmlformats.org/officeDocument/2006/relationships/image"/><Relationship Id="rId3" Target="../media/image5.png" Type="http://schemas.openxmlformats.org/officeDocument/2006/relationships/image"/><Relationship Id="rId30" Target="../media/image34.svg" Type="http://schemas.openxmlformats.org/officeDocument/2006/relationships/image"/><Relationship Id="rId31" Target="../media/image35.png" Type="http://schemas.openxmlformats.org/officeDocument/2006/relationships/image"/><Relationship Id="rId32" Target="../media/image36.svg" Type="http://schemas.openxmlformats.org/officeDocument/2006/relationships/image"/><Relationship Id="rId33" Target="../media/image37.png" Type="http://schemas.openxmlformats.org/officeDocument/2006/relationships/image"/><Relationship Id="rId34" Target="../media/image38.svg" Type="http://schemas.openxmlformats.org/officeDocument/2006/relationships/image"/><Relationship Id="rId35" Target="../media/image39.png" Type="http://schemas.openxmlformats.org/officeDocument/2006/relationships/image"/><Relationship Id="rId36" Target="../media/image40.png" Type="http://schemas.openxmlformats.org/officeDocument/2006/relationships/image"/><Relationship Id="rId37" Target="../media/image41.svg" Type="http://schemas.openxmlformats.org/officeDocument/2006/relationships/image"/><Relationship Id="rId38" Target="../media/image42.png" Type="http://schemas.openxmlformats.org/officeDocument/2006/relationships/image"/><Relationship Id="rId39" Target="../media/image43.png" Type="http://schemas.openxmlformats.org/officeDocument/2006/relationships/image"/><Relationship Id="rId4" Target="../media/image8.png" Type="http://schemas.openxmlformats.org/officeDocument/2006/relationships/image"/><Relationship Id="rId40" Target="../media/image44.svg" Type="http://schemas.openxmlformats.org/officeDocument/2006/relationships/image"/><Relationship Id="rId41" Target="../media/image45.png" Type="http://schemas.openxmlformats.org/officeDocument/2006/relationships/image"/><Relationship Id="rId42" Target="../media/image46.png" Type="http://schemas.openxmlformats.org/officeDocument/2006/relationships/image"/><Relationship Id="rId43" Target="../media/image47.svg" Type="http://schemas.openxmlformats.org/officeDocument/2006/relationships/image"/><Relationship Id="rId44" Target="../media/image48.png" Type="http://schemas.openxmlformats.org/officeDocument/2006/relationships/image"/><Relationship Id="rId45" Target="../media/image49.svg" Type="http://schemas.openxmlformats.org/officeDocument/2006/relationships/image"/><Relationship Id="rId46" Target="../media/image50.png" Type="http://schemas.openxmlformats.org/officeDocument/2006/relationships/image"/><Relationship Id="rId47" Target="../media/image51.png" Type="http://schemas.openxmlformats.org/officeDocument/2006/relationships/image"/><Relationship Id="rId48" Target="../media/image7.png" Type="http://schemas.openxmlformats.org/officeDocument/2006/relationships/image"/><Relationship Id="rId49" Target="https://lazycoder-s-portfolio.onrender.com" TargetMode="External" Type="http://schemas.openxmlformats.org/officeDocument/2006/relationships/hyperlink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png" Type="http://schemas.openxmlformats.org/officeDocument/2006/relationships/image"/><Relationship Id="rId11" Target="../media/image59.png" Type="http://schemas.openxmlformats.org/officeDocument/2006/relationships/image"/><Relationship Id="rId12" Target="../media/image60.svg" Type="http://schemas.openxmlformats.org/officeDocument/2006/relationships/image"/><Relationship Id="rId13" Target="../media/image61.png" Type="http://schemas.openxmlformats.org/officeDocument/2006/relationships/image"/><Relationship Id="rId14" Target="../media/image62.svg" Type="http://schemas.openxmlformats.org/officeDocument/2006/relationships/image"/><Relationship Id="rId15" Target="../media/image63.png" Type="http://schemas.openxmlformats.org/officeDocument/2006/relationships/image"/><Relationship Id="rId16" Target="../media/image64.svg" Type="http://schemas.openxmlformats.org/officeDocument/2006/relationships/image"/><Relationship Id="rId17" Target="../media/image65.png" Type="http://schemas.openxmlformats.org/officeDocument/2006/relationships/image"/><Relationship Id="rId18" Target="../media/image66.svg" Type="http://schemas.openxmlformats.org/officeDocument/2006/relationships/image"/><Relationship Id="rId19" Target="../media/image67.png" Type="http://schemas.openxmlformats.org/officeDocument/2006/relationships/image"/><Relationship Id="rId2" Target="../media/image4.jpeg" Type="http://schemas.openxmlformats.org/officeDocument/2006/relationships/image"/><Relationship Id="rId20" Target="../media/image68.svg" Type="http://schemas.openxmlformats.org/officeDocument/2006/relationships/image"/><Relationship Id="rId21" Target="../media/image69.png" Type="http://schemas.openxmlformats.org/officeDocument/2006/relationships/image"/><Relationship Id="rId22" Target="../media/image70.svg" Type="http://schemas.openxmlformats.org/officeDocument/2006/relationships/image"/><Relationship Id="rId23" Target="../media/image7.png" Type="http://schemas.openxmlformats.org/officeDocument/2006/relationships/image"/><Relationship Id="rId24" Target="https://lazycoder-s-portfolio.onrender.com" TargetMode="External" Type="http://schemas.openxmlformats.org/officeDocument/2006/relationships/hyperlink"/><Relationship Id="rId3" Target="../media/image5.png" Type="http://schemas.openxmlformats.org/officeDocument/2006/relationships/image"/><Relationship Id="rId4" Target="../media/image52.png" Type="http://schemas.openxmlformats.org/officeDocument/2006/relationships/image"/><Relationship Id="rId5" Target="../media/image53.png" Type="http://schemas.openxmlformats.org/officeDocument/2006/relationships/image"/><Relationship Id="rId6" Target="../media/image54.png" Type="http://schemas.openxmlformats.org/officeDocument/2006/relationships/image"/><Relationship Id="rId7" Target="../media/image55.png" Type="http://schemas.openxmlformats.org/officeDocument/2006/relationships/image"/><Relationship Id="rId8" Target="../media/image56.pn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1.pn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72.png" Type="http://schemas.openxmlformats.org/officeDocument/2006/relationships/image"/><Relationship Id="rId6" Target="../media/image7.png" Type="http://schemas.openxmlformats.org/officeDocument/2006/relationships/image"/><Relationship Id="rId7" Target="https://lazycoder-s-portfolio.onrender.com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lazycoder-s-portfolio.onrender.com" TargetMode="External" Type="http://schemas.openxmlformats.org/officeDocument/2006/relationships/hyperlink"/><Relationship Id="rId11" Target="../media/image75.png" Type="http://schemas.openxmlformats.org/officeDocument/2006/relationships/image"/><Relationship Id="rId12" Target="https://gov-innovation-prototype.vercel.app" TargetMode="External" Type="http://schemas.openxmlformats.org/officeDocument/2006/relationships/hyperlink"/><Relationship Id="rId13" Target="https://msins.in" TargetMode="External" Type="http://schemas.openxmlformats.org/officeDocument/2006/relationships/hyperlink"/><Relationship Id="rId14" Target="https://msins.in" TargetMode="External" Type="http://schemas.openxmlformats.org/officeDocument/2006/relationships/hyperlink"/><Relationship Id="rId15" Target="https://doe.gov.in/manuals?utm_source=chatgpt.com" TargetMode="External" Type="http://schemas.openxmlformats.org/officeDocument/2006/relationships/hyperlink"/><Relationship Id="rId16" Target="https://doe.gov.in/bi-annual-compilationupdation-general-financial-rules-2017-upto-31012026general-financial-rules?utm_source=chatgpt.com" TargetMode="External" Type="http://schemas.openxmlformats.org/officeDocument/2006/relationships/hyperlink"/><Relationship Id="rId17" Target="https://www.startupindia.gov.in/content/sih/en/public_procurement.html?utm_source=chatgpt.com" TargetMode="External" Type="http://schemas.openxmlformats.org/officeDocument/2006/relationships/hyperlink"/><Relationship Id="rId18" Target="https://gem.gov.in" TargetMode="External" Type="http://schemas.openxmlformats.org/officeDocument/2006/relationships/hyperlink"/><Relationship Id="rId19" Target="https://papers.ssrn.com/sol3/papers.cfm?abstract_id=6530078" TargetMode="External" Type="http://schemas.openxmlformats.org/officeDocument/2006/relationships/hyperlink"/><Relationship Id="rId2" Target="../media/image71.png" Type="http://schemas.openxmlformats.org/officeDocument/2006/relationships/image"/><Relationship Id="rId20" Target="https://onlinelibrary.wiley.com/doi/abs/10.1002/pad.2113" TargetMode="External" Type="http://schemas.openxmlformats.org/officeDocument/2006/relationships/hyperlink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73.png" Type="http://schemas.openxmlformats.org/officeDocument/2006/relationships/image"/><Relationship Id="rId6" Target="https://github.com/deotareatharva-hub/GovInnovation-Prototype" TargetMode="External" Type="http://schemas.openxmlformats.org/officeDocument/2006/relationships/hyperlink"/><Relationship Id="rId7" Target="../media/image74.png" Type="http://schemas.openxmlformats.org/officeDocument/2006/relationships/image"/><Relationship Id="rId8" Target="https://docs.google.com/document/d/1Rz0F5dO9EFZV1S-7FZeMsmbT5QkxaS8h/edit?usp=sharing&amp;ouid=113236038995270870263&amp;rtpof=true&amp;sd=true" TargetMode="External" Type="http://schemas.openxmlformats.org/officeDocument/2006/relationships/hyperlink"/><Relationship Id="rId9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91175" y="1595752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064905" y="317413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59969" y="990067"/>
            <a:ext cx="12618720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726400" cy="4191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88369" y="2863725"/>
            <a:ext cx="10740274" cy="568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4"/>
              </a:lnSpc>
            </a:pPr>
          </a:p>
          <a:p>
            <a:pPr algn="just" marL="499879" indent="-249940" lvl="1">
              <a:lnSpc>
                <a:spcPts val="6629"/>
              </a:lnSpc>
              <a:buFont typeface="Arial"/>
              <a:buChar char="•"/>
            </a:pPr>
            <a:r>
              <a:rPr lang="en-US" b="true" sz="276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ID - </a:t>
            </a:r>
            <a:r>
              <a:rPr lang="en-US" sz="27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26136</a:t>
            </a:r>
          </a:p>
          <a:p>
            <a:pPr algn="just" marL="499879" indent="-249940" lvl="1">
              <a:lnSpc>
                <a:spcPts val="3369"/>
              </a:lnSpc>
              <a:buFont typeface="Arial"/>
              <a:buChar char="•"/>
            </a:pPr>
            <a:r>
              <a:rPr lang="en-US" b="true" sz="2762" spc="7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Title - </a:t>
            </a:r>
            <a:r>
              <a:rPr lang="en-US" sz="2762" spc="7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Startup friendly public procurement mechanism that enables government departments to identify,pilot, procure, and scale innovative solutions from eligible startups</a:t>
            </a:r>
          </a:p>
          <a:p>
            <a:pPr algn="just" marL="499879" indent="-249940" lvl="1">
              <a:lnSpc>
                <a:spcPts val="6629"/>
              </a:lnSpc>
              <a:buFont typeface="Arial"/>
              <a:buChar char="•"/>
            </a:pPr>
            <a:r>
              <a:rPr lang="en-US" b="true" sz="276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Theme - </a:t>
            </a:r>
            <a:r>
              <a:rPr lang="en-US" sz="27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Miscellaneous</a:t>
            </a:r>
          </a:p>
          <a:p>
            <a:pPr algn="just" marL="499879" indent="-249940" lvl="1">
              <a:lnSpc>
                <a:spcPts val="6629"/>
              </a:lnSpc>
              <a:buFont typeface="Arial"/>
              <a:buChar char="•"/>
            </a:pPr>
            <a:r>
              <a:rPr lang="en-US" b="true" sz="276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PS Category- </a:t>
            </a:r>
            <a:r>
              <a:rPr lang="en-US" sz="27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</a:p>
          <a:p>
            <a:pPr algn="just" marL="499879" indent="-249940" lvl="1">
              <a:lnSpc>
                <a:spcPts val="6629"/>
              </a:lnSpc>
              <a:buFont typeface="Arial"/>
              <a:buChar char="•"/>
            </a:pPr>
            <a:r>
              <a:rPr lang="en-US" b="true" sz="276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ID-</a:t>
            </a:r>
          </a:p>
          <a:p>
            <a:pPr algn="just" marL="499879" indent="-249940" lvl="1">
              <a:lnSpc>
                <a:spcPts val="6629"/>
              </a:lnSpc>
              <a:buFont typeface="Arial"/>
              <a:buChar char="•"/>
            </a:pPr>
            <a:r>
              <a:rPr lang="en-US" b="true" sz="276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- </a:t>
            </a:r>
            <a:r>
              <a:rPr lang="en-US" sz="27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LazyCoder’s 2.0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373151" y="1376363"/>
            <a:ext cx="10594001" cy="784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b="true" sz="2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</a:t>
            </a:r>
          </a:p>
          <a:p>
            <a:pPr algn="l">
              <a:lnSpc>
                <a:spcPts val="2591"/>
              </a:lnSpc>
            </a:pPr>
          </a:p>
          <a:p>
            <a:pPr algn="l">
              <a:lnSpc>
                <a:spcPts val="1947"/>
              </a:lnSpc>
            </a:pPr>
          </a:p>
          <a:p>
            <a:pPr algn="l">
              <a:lnSpc>
                <a:spcPts val="1947"/>
              </a:lnSpc>
            </a:pPr>
          </a:p>
          <a:p>
            <a:pPr algn="l">
              <a:lnSpc>
                <a:spcPts val="1947"/>
              </a:lnSpc>
            </a:pPr>
          </a:p>
          <a:p>
            <a:pPr algn="l">
              <a:lnSpc>
                <a:spcPts val="1947"/>
              </a:lnSpc>
            </a:pPr>
          </a:p>
          <a:p>
            <a:pPr algn="l">
              <a:lnSpc>
                <a:spcPts val="1947"/>
              </a:lnSpc>
            </a:pPr>
          </a:p>
          <a:p>
            <a:pPr algn="l">
              <a:lnSpc>
                <a:spcPts val="1947"/>
              </a:lnSpc>
            </a:pPr>
          </a:p>
          <a:p>
            <a:pPr algn="l">
              <a:lnSpc>
                <a:spcPts val="1947"/>
              </a:lnSpc>
            </a:pPr>
          </a:p>
          <a:p>
            <a:pPr algn="l">
              <a:lnSpc>
                <a:spcPts val="1947"/>
              </a:lnSpc>
            </a:pPr>
          </a:p>
          <a:p>
            <a:pPr algn="l">
              <a:lnSpc>
                <a:spcPts val="1947"/>
              </a:lnSpc>
            </a:pPr>
          </a:p>
          <a:p>
            <a:pPr algn="l">
              <a:lnSpc>
                <a:spcPts val="1947"/>
              </a:lnSpc>
            </a:pPr>
          </a:p>
          <a:p>
            <a:pPr algn="l">
              <a:lnSpc>
                <a:spcPts val="1947"/>
              </a:lnSpc>
            </a:pPr>
          </a:p>
          <a:p>
            <a:pPr algn="l">
              <a:lnSpc>
                <a:spcPts val="1947"/>
              </a:lnSpc>
            </a:pPr>
          </a:p>
          <a:p>
            <a:pPr algn="l">
              <a:lnSpc>
                <a:spcPts val="1947"/>
              </a:lnSpc>
            </a:pPr>
          </a:p>
          <a:p>
            <a:pPr algn="l">
              <a:lnSpc>
                <a:spcPts val="1947"/>
              </a:lnSpc>
            </a:pPr>
          </a:p>
          <a:p>
            <a:pPr algn="l">
              <a:lnSpc>
                <a:spcPts val="1947"/>
              </a:lnSpc>
            </a:pPr>
          </a:p>
          <a:p>
            <a:pPr algn="l">
              <a:lnSpc>
                <a:spcPts val="1947"/>
              </a:lnSpc>
            </a:pPr>
          </a:p>
          <a:p>
            <a:pPr algn="l">
              <a:lnSpc>
                <a:spcPts val="1947"/>
              </a:lnSpc>
            </a:pPr>
          </a:p>
          <a:p>
            <a:pPr algn="l">
              <a:lnSpc>
                <a:spcPts val="1947"/>
              </a:lnSpc>
            </a:pPr>
          </a:p>
          <a:p>
            <a:pPr algn="l">
              <a:lnSpc>
                <a:spcPts val="1947"/>
              </a:lnSpc>
            </a:pPr>
          </a:p>
          <a:p>
            <a:pPr algn="l">
              <a:lnSpc>
                <a:spcPts val="1947"/>
              </a:lnSpc>
            </a:pPr>
          </a:p>
          <a:p>
            <a:pPr algn="just">
              <a:lnSpc>
                <a:spcPts val="1944"/>
              </a:lnSpc>
            </a:pPr>
          </a:p>
          <a:p>
            <a:pPr algn="l">
              <a:lnSpc>
                <a:spcPts val="1944"/>
              </a:lnSpc>
            </a:pPr>
          </a:p>
          <a:p>
            <a:pPr algn="l">
              <a:lnSpc>
                <a:spcPts val="2490"/>
              </a:lnSpc>
            </a:pPr>
          </a:p>
          <a:p>
            <a:pPr algn="l">
              <a:lnSpc>
                <a:spcPts val="2198"/>
              </a:lnSpc>
            </a:pPr>
          </a:p>
          <a:p>
            <a:pPr algn="l">
              <a:lnSpc>
                <a:spcPts val="2563"/>
              </a:lnSpc>
            </a:pPr>
          </a:p>
          <a:p>
            <a:pPr algn="l">
              <a:lnSpc>
                <a:spcPts val="2490"/>
              </a:lnSpc>
            </a:pPr>
          </a:p>
          <a:p>
            <a:pPr algn="l">
              <a:lnSpc>
                <a:spcPts val="2343"/>
              </a:lnSpc>
            </a:pPr>
          </a:p>
          <a:p>
            <a:pPr algn="l">
              <a:lnSpc>
                <a:spcPts val="2343"/>
              </a:lnSpc>
            </a:pPr>
            <a:r>
              <a:rPr lang="en-US" sz="1952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submission- Template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240000" y="-13948"/>
            <a:ext cx="2989631" cy="1411647"/>
            <a:chOff x="0" y="0"/>
            <a:chExt cx="4499699" cy="21246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1539236" y="1935336"/>
            <a:ext cx="6806344" cy="6834840"/>
          </a:xfrm>
          <a:custGeom>
            <a:avLst/>
            <a:gdLst/>
            <a:ahLst/>
            <a:cxnLst/>
            <a:rect r="r" b="b" t="t" l="l"/>
            <a:pathLst>
              <a:path h="6834840" w="6806344">
                <a:moveTo>
                  <a:pt x="0" y="0"/>
                </a:moveTo>
                <a:lnTo>
                  <a:pt x="6806344" y="0"/>
                </a:lnTo>
                <a:lnTo>
                  <a:pt x="6806344" y="6834840"/>
                </a:lnTo>
                <a:lnTo>
                  <a:pt x="0" y="68348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8121" t="0" r="-2426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42676" y="5988973"/>
            <a:ext cx="11371198" cy="316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0"/>
              </a:lnSpc>
            </a:pPr>
          </a:p>
          <a:p>
            <a:pPr algn="just">
              <a:lnSpc>
                <a:spcPts val="2280"/>
              </a:lnSpc>
              <a:spcBef>
                <a:spcPct val="0"/>
              </a:spcBef>
            </a:pPr>
          </a:p>
          <a:p>
            <a:pPr algn="just">
              <a:lnSpc>
                <a:spcPts val="2280"/>
              </a:lnSpc>
              <a:spcBef>
                <a:spcPct val="0"/>
              </a:spcBef>
            </a:pPr>
          </a:p>
          <a:p>
            <a:pPr algn="just" marL="410211" indent="-205106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AI Problem-to-Startup Matching – Semantic matching based on problem, technology, sector and capability.</a:t>
            </a:r>
          </a:p>
          <a:p>
            <a:pPr algn="just" marL="410211" indent="-205106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Evidence-First Verification –  Structured verification of startup credentials, claims and supporting evidence.</a:t>
            </a:r>
          </a:p>
          <a:p>
            <a:pPr algn="just" marL="410211" indent="-205106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Expert-in-the-Loop Evaluation – AI assists evaluation; domain experts validate technical evidence.</a:t>
            </a:r>
          </a:p>
          <a:p>
            <a:pPr algn="just" marL="410211" indent="-205106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Pilot-to-Procurement Bridge – Connects validated pilot outcomes with the appropriate procurement pathway.</a:t>
            </a:r>
          </a:p>
          <a:p>
            <a:pPr algn="just" marL="410211" indent="-205106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Milestone-Based Governance – Tracks KPIs, evidence, approvals and payment milestones throughout the pilot.</a:t>
            </a:r>
          </a:p>
          <a:p>
            <a:pPr algn="just" marL="410211" indent="-205106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RAG Policy Assistant – Provides policy/procurement guidance grounded in approved documents</a:t>
            </a:r>
          </a:p>
          <a:p>
            <a:pPr algn="just">
              <a:lnSpc>
                <a:spcPts val="2280"/>
              </a:lnSpc>
              <a:spcBef>
                <a:spcPct val="0"/>
              </a:spcBef>
            </a:pPr>
          </a:p>
          <a:p>
            <a:pPr algn="just">
              <a:lnSpc>
                <a:spcPts val="228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373151" y="3614207"/>
            <a:ext cx="8610599" cy="259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0"/>
              </a:lnSpc>
            </a:pPr>
          </a:p>
          <a:p>
            <a:pPr algn="just" marL="410211" indent="-205106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Define:  G</a:t>
            </a: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overnment creates a structured challenge</a:t>
            </a:r>
          </a:p>
          <a:p>
            <a:pPr algn="just" marL="410211" indent="-205106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Discover and Match:  AI/NLP finds relevant eligible startups</a:t>
            </a:r>
          </a:p>
          <a:p>
            <a:pPr algn="just" marL="410211" indent="-205106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Verify: DPIIT, company &amp; evidence verification</a:t>
            </a:r>
          </a:p>
          <a:p>
            <a:pPr algn="just" marL="410211" indent="-205106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Evaluate: Independent expert technical assessment</a:t>
            </a:r>
          </a:p>
          <a:p>
            <a:pPr algn="just" marL="410211" indent="-205106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Pilot:  Controlled pilot with milestones &amp; KPIs</a:t>
            </a:r>
          </a:p>
          <a:p>
            <a:pPr algn="just" marL="410211" indent="-205106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Validate:  Evidence + expert validation + user feedback</a:t>
            </a:r>
          </a:p>
          <a:p>
            <a:pPr algn="just" marL="410211" indent="-205106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Procure: Government reviews and selects applicable procurement pathway </a:t>
            </a:r>
          </a:p>
          <a:p>
            <a:pPr algn="just" marL="410211" indent="-205106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Scale: Successful solutions expand across departments/locations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5451" y="3519528"/>
            <a:ext cx="360769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SOLUTION</a:t>
            </a:r>
            <a:r>
              <a:rPr lang="en-US" b="true" sz="1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WORKFLOW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2847" y="6521073"/>
            <a:ext cx="236894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5"/>
              </a:lnSpc>
              <a:spcBef>
                <a:spcPct val="0"/>
              </a:spcBef>
            </a:pPr>
            <a:r>
              <a:rPr lang="en-US" b="true" sz="199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</a:t>
            </a:r>
            <a:r>
              <a:rPr lang="en-US" b="true" sz="199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Y INNOVATIONS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2847" y="2170198"/>
            <a:ext cx="10811985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79"/>
              </a:lnSpc>
            </a:pPr>
          </a:p>
          <a:p>
            <a:pPr algn="just">
              <a:lnSpc>
                <a:spcPts val="227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AI-assisted Innovation-to-Pr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ocurement Platform that connects government departments with verified startups and takes successful innovations from problem identification to pilot, procurement and scale.</a:t>
            </a:r>
          </a:p>
          <a:p>
            <a:pPr algn="just">
              <a:lnSpc>
                <a:spcPts val="2279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255451" y="2186656"/>
            <a:ext cx="475981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SOLUTION — GOVINNOVATE</a:t>
            </a:r>
          </a:p>
        </p:txBody>
      </p:sp>
      <p:sp>
        <p:nvSpPr>
          <p:cNvPr name="Freeform 20" id="20">
            <a:hlinkClick r:id="rId6" tooltip="https://lazycoder-s-portfolio.onrender.com"/>
          </p:cNvPr>
          <p:cNvSpPr/>
          <p:nvPr/>
        </p:nvSpPr>
        <p:spPr>
          <a:xfrm flipH="false" flipV="false" rot="0">
            <a:off x="28324" y="56649"/>
            <a:ext cx="1245095" cy="1245095"/>
          </a:xfrm>
          <a:custGeom>
            <a:avLst/>
            <a:gdLst/>
            <a:ahLst/>
            <a:cxnLst/>
            <a:rect r="r" b="b" t="t" l="l"/>
            <a:pathLst>
              <a:path h="1245095" w="1245095">
                <a:moveTo>
                  <a:pt x="0" y="0"/>
                </a:moveTo>
                <a:lnTo>
                  <a:pt x="1245096" y="0"/>
                </a:lnTo>
                <a:lnTo>
                  <a:pt x="1245096" y="1245095"/>
                </a:lnTo>
                <a:lnTo>
                  <a:pt x="0" y="12450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177683" y="376238"/>
            <a:ext cx="3932634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  <a:spcBef>
                <a:spcPct val="0"/>
              </a:spcBef>
            </a:pPr>
            <a:r>
              <a:rPr lang="en-US" b="true" sz="5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IDEA TITLE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56266" y="-331615"/>
            <a:ext cx="8613916" cy="1714500"/>
            <a:chOff x="0" y="0"/>
            <a:chExt cx="11485221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85221" cy="2286000"/>
            </a:xfrm>
            <a:custGeom>
              <a:avLst/>
              <a:gdLst/>
              <a:ahLst/>
              <a:cxnLst/>
              <a:rect r="r" b="b" t="t" l="l"/>
              <a:pathLst>
                <a:path h="2286000" w="11485221">
                  <a:moveTo>
                    <a:pt x="0" y="0"/>
                  </a:moveTo>
                  <a:lnTo>
                    <a:pt x="11485221" y="0"/>
                  </a:lnTo>
                  <a:lnTo>
                    <a:pt x="11485221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-91076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1485221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532303" y="1472440"/>
            <a:ext cx="1768390" cy="2257668"/>
          </a:xfrm>
          <a:custGeom>
            <a:avLst/>
            <a:gdLst/>
            <a:ahLst/>
            <a:cxnLst/>
            <a:rect r="r" b="b" t="t" l="l"/>
            <a:pathLst>
              <a:path h="2257668" w="1768390">
                <a:moveTo>
                  <a:pt x="0" y="0"/>
                </a:moveTo>
                <a:lnTo>
                  <a:pt x="1768390" y="0"/>
                </a:lnTo>
                <a:lnTo>
                  <a:pt x="1768390" y="2257668"/>
                </a:lnTo>
                <a:lnTo>
                  <a:pt x="0" y="2257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850490" y="1650740"/>
            <a:ext cx="993240" cy="99324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EB2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006358" y="1828815"/>
            <a:ext cx="637089" cy="637089"/>
          </a:xfrm>
          <a:custGeom>
            <a:avLst/>
            <a:gdLst/>
            <a:ahLst/>
            <a:cxnLst/>
            <a:rect r="r" b="b" t="t" l="l"/>
            <a:pathLst>
              <a:path h="637089" w="637089">
                <a:moveTo>
                  <a:pt x="0" y="0"/>
                </a:moveTo>
                <a:lnTo>
                  <a:pt x="637089" y="0"/>
                </a:lnTo>
                <a:lnTo>
                  <a:pt x="637089" y="637089"/>
                </a:lnTo>
                <a:lnTo>
                  <a:pt x="0" y="6370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655091" y="6879582"/>
            <a:ext cx="13786036" cy="2531289"/>
          </a:xfrm>
          <a:custGeom>
            <a:avLst/>
            <a:gdLst/>
            <a:ahLst/>
            <a:cxnLst/>
            <a:rect r="r" b="b" t="t" l="l"/>
            <a:pathLst>
              <a:path h="2531289" w="13786036">
                <a:moveTo>
                  <a:pt x="0" y="0"/>
                </a:moveTo>
                <a:lnTo>
                  <a:pt x="13786036" y="0"/>
                </a:lnTo>
                <a:lnTo>
                  <a:pt x="13786036" y="2531289"/>
                </a:lnTo>
                <a:lnTo>
                  <a:pt x="0" y="2531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67311" r="0" b="-77623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91275" y="7323020"/>
            <a:ext cx="1684561" cy="1684561"/>
          </a:xfrm>
          <a:custGeom>
            <a:avLst/>
            <a:gdLst/>
            <a:ahLst/>
            <a:cxnLst/>
            <a:rect r="r" b="b" t="t" l="l"/>
            <a:pathLst>
              <a:path h="1684561" w="1684561">
                <a:moveTo>
                  <a:pt x="0" y="0"/>
                </a:moveTo>
                <a:lnTo>
                  <a:pt x="1684561" y="0"/>
                </a:lnTo>
                <a:lnTo>
                  <a:pt x="1684561" y="1684561"/>
                </a:lnTo>
                <a:lnTo>
                  <a:pt x="0" y="16845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0999"/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977164" y="1494758"/>
            <a:ext cx="1768390" cy="2235355"/>
          </a:xfrm>
          <a:custGeom>
            <a:avLst/>
            <a:gdLst/>
            <a:ahLst/>
            <a:cxnLst/>
            <a:rect r="r" b="b" t="t" l="l"/>
            <a:pathLst>
              <a:path h="2235355" w="1768390">
                <a:moveTo>
                  <a:pt x="0" y="0"/>
                </a:moveTo>
                <a:lnTo>
                  <a:pt x="1768390" y="0"/>
                </a:lnTo>
                <a:lnTo>
                  <a:pt x="1768390" y="2235356"/>
                </a:lnTo>
                <a:lnTo>
                  <a:pt x="0" y="22353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499" r="0" b="-499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372631" y="1460284"/>
            <a:ext cx="1768390" cy="2257668"/>
          </a:xfrm>
          <a:custGeom>
            <a:avLst/>
            <a:gdLst/>
            <a:ahLst/>
            <a:cxnLst/>
            <a:rect r="r" b="b" t="t" l="l"/>
            <a:pathLst>
              <a:path h="2257668" w="1768390">
                <a:moveTo>
                  <a:pt x="0" y="0"/>
                </a:moveTo>
                <a:lnTo>
                  <a:pt x="1768390" y="0"/>
                </a:lnTo>
                <a:lnTo>
                  <a:pt x="1768390" y="2257667"/>
                </a:lnTo>
                <a:lnTo>
                  <a:pt x="0" y="2257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262729" y="1440035"/>
            <a:ext cx="1768390" cy="2257668"/>
          </a:xfrm>
          <a:custGeom>
            <a:avLst/>
            <a:gdLst/>
            <a:ahLst/>
            <a:cxnLst/>
            <a:rect r="r" b="b" t="t" l="l"/>
            <a:pathLst>
              <a:path h="2257668" w="1768390">
                <a:moveTo>
                  <a:pt x="0" y="0"/>
                </a:moveTo>
                <a:lnTo>
                  <a:pt x="1768390" y="0"/>
                </a:lnTo>
                <a:lnTo>
                  <a:pt x="1768390" y="2257667"/>
                </a:lnTo>
                <a:lnTo>
                  <a:pt x="0" y="22576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856164" y="1494764"/>
            <a:ext cx="1768390" cy="2257668"/>
          </a:xfrm>
          <a:custGeom>
            <a:avLst/>
            <a:gdLst/>
            <a:ahLst/>
            <a:cxnLst/>
            <a:rect r="r" b="b" t="t" l="l"/>
            <a:pathLst>
              <a:path h="2257668" w="1768390">
                <a:moveTo>
                  <a:pt x="0" y="0"/>
                </a:moveTo>
                <a:lnTo>
                  <a:pt x="1768390" y="0"/>
                </a:lnTo>
                <a:lnTo>
                  <a:pt x="1768390" y="2257668"/>
                </a:lnTo>
                <a:lnTo>
                  <a:pt x="0" y="225766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8229218" y="1538078"/>
            <a:ext cx="1063196" cy="1063196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ACEF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713489" y="1521973"/>
            <a:ext cx="1086674" cy="1086674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3F5DD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5941041" y="1703145"/>
            <a:ext cx="657390" cy="698230"/>
          </a:xfrm>
          <a:custGeom>
            <a:avLst/>
            <a:gdLst/>
            <a:ahLst/>
            <a:cxnLst/>
            <a:rect r="r" b="b" t="t" l="l"/>
            <a:pathLst>
              <a:path h="698230" w="657390">
                <a:moveTo>
                  <a:pt x="0" y="0"/>
                </a:moveTo>
                <a:lnTo>
                  <a:pt x="657390" y="0"/>
                </a:lnTo>
                <a:lnTo>
                  <a:pt x="657390" y="698230"/>
                </a:lnTo>
                <a:lnTo>
                  <a:pt x="0" y="69823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106" t="0" r="-3106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8409385" y="1692690"/>
            <a:ext cx="700820" cy="749540"/>
          </a:xfrm>
          <a:custGeom>
            <a:avLst/>
            <a:gdLst/>
            <a:ahLst/>
            <a:cxnLst/>
            <a:rect r="r" b="b" t="t" l="l"/>
            <a:pathLst>
              <a:path h="749540" w="700820">
                <a:moveTo>
                  <a:pt x="0" y="0"/>
                </a:moveTo>
                <a:lnTo>
                  <a:pt x="700819" y="0"/>
                </a:lnTo>
                <a:lnTo>
                  <a:pt x="700819" y="749540"/>
                </a:lnTo>
                <a:lnTo>
                  <a:pt x="0" y="7495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0591672" y="1678681"/>
            <a:ext cx="1086674" cy="1086674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3F5DD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0776344" y="1904256"/>
            <a:ext cx="635523" cy="635523"/>
          </a:xfrm>
          <a:custGeom>
            <a:avLst/>
            <a:gdLst/>
            <a:ahLst/>
            <a:cxnLst/>
            <a:rect r="r" b="b" t="t" l="l"/>
            <a:pathLst>
              <a:path h="635523" w="635523">
                <a:moveTo>
                  <a:pt x="0" y="0"/>
                </a:moveTo>
                <a:lnTo>
                  <a:pt x="635523" y="0"/>
                </a:lnTo>
                <a:lnTo>
                  <a:pt x="635523" y="635523"/>
                </a:lnTo>
                <a:lnTo>
                  <a:pt x="0" y="63552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5033426" y="1440035"/>
            <a:ext cx="1768390" cy="2101889"/>
          </a:xfrm>
          <a:custGeom>
            <a:avLst/>
            <a:gdLst/>
            <a:ahLst/>
            <a:cxnLst/>
            <a:rect r="r" b="b" t="t" l="l"/>
            <a:pathLst>
              <a:path h="2101889" w="1768390">
                <a:moveTo>
                  <a:pt x="0" y="0"/>
                </a:moveTo>
                <a:lnTo>
                  <a:pt x="1768390" y="0"/>
                </a:lnTo>
                <a:lnTo>
                  <a:pt x="1768390" y="2101889"/>
                </a:lnTo>
                <a:lnTo>
                  <a:pt x="0" y="210188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-7411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2670107" y="1440035"/>
            <a:ext cx="1768390" cy="2257668"/>
          </a:xfrm>
          <a:custGeom>
            <a:avLst/>
            <a:gdLst/>
            <a:ahLst/>
            <a:cxnLst/>
            <a:rect r="r" b="b" t="t" l="l"/>
            <a:pathLst>
              <a:path h="2257668" w="1768390">
                <a:moveTo>
                  <a:pt x="0" y="0"/>
                </a:moveTo>
                <a:lnTo>
                  <a:pt x="1768390" y="0"/>
                </a:lnTo>
                <a:lnTo>
                  <a:pt x="1768390" y="2257667"/>
                </a:lnTo>
                <a:lnTo>
                  <a:pt x="0" y="225766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15401335" y="1604023"/>
            <a:ext cx="1086674" cy="1086674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F4C2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022532" y="1703145"/>
            <a:ext cx="1086674" cy="1086674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A9F1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13251132" y="1976155"/>
            <a:ext cx="657381" cy="489749"/>
          </a:xfrm>
          <a:custGeom>
            <a:avLst/>
            <a:gdLst/>
            <a:ahLst/>
            <a:cxnLst/>
            <a:rect r="r" b="b" t="t" l="l"/>
            <a:pathLst>
              <a:path h="489749" w="657381">
                <a:moveTo>
                  <a:pt x="0" y="0"/>
                </a:moveTo>
                <a:lnTo>
                  <a:pt x="657381" y="0"/>
                </a:lnTo>
                <a:lnTo>
                  <a:pt x="657381" y="489749"/>
                </a:lnTo>
                <a:lnTo>
                  <a:pt x="0" y="48974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5772810" y="1814979"/>
            <a:ext cx="377537" cy="650925"/>
          </a:xfrm>
          <a:custGeom>
            <a:avLst/>
            <a:gdLst/>
            <a:ahLst/>
            <a:cxnLst/>
            <a:rect r="r" b="b" t="t" l="l"/>
            <a:pathLst>
              <a:path h="650925" w="377537">
                <a:moveTo>
                  <a:pt x="0" y="0"/>
                </a:moveTo>
                <a:lnTo>
                  <a:pt x="377536" y="0"/>
                </a:lnTo>
                <a:lnTo>
                  <a:pt x="377536" y="650925"/>
                </a:lnTo>
                <a:lnTo>
                  <a:pt x="0" y="65092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459832" y="5110859"/>
            <a:ext cx="1730141" cy="1420378"/>
          </a:xfrm>
          <a:custGeom>
            <a:avLst/>
            <a:gdLst/>
            <a:ahLst/>
            <a:cxnLst/>
            <a:rect r="r" b="b" t="t" l="l"/>
            <a:pathLst>
              <a:path h="1420378" w="1730141">
                <a:moveTo>
                  <a:pt x="0" y="0"/>
                </a:moveTo>
                <a:lnTo>
                  <a:pt x="1730141" y="0"/>
                </a:lnTo>
                <a:lnTo>
                  <a:pt x="1730141" y="1420378"/>
                </a:lnTo>
                <a:lnTo>
                  <a:pt x="0" y="1420378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2311198" y="5110859"/>
            <a:ext cx="1730141" cy="1420378"/>
          </a:xfrm>
          <a:custGeom>
            <a:avLst/>
            <a:gdLst/>
            <a:ahLst/>
            <a:cxnLst/>
            <a:rect r="r" b="b" t="t" l="l"/>
            <a:pathLst>
              <a:path h="1420378" w="1730141">
                <a:moveTo>
                  <a:pt x="0" y="0"/>
                </a:moveTo>
                <a:lnTo>
                  <a:pt x="1730141" y="0"/>
                </a:lnTo>
                <a:lnTo>
                  <a:pt x="1730141" y="1420378"/>
                </a:lnTo>
                <a:lnTo>
                  <a:pt x="0" y="1420378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410560" y="4025389"/>
            <a:ext cx="3799317" cy="821250"/>
          </a:xfrm>
          <a:custGeom>
            <a:avLst/>
            <a:gdLst/>
            <a:ahLst/>
            <a:cxnLst/>
            <a:rect r="r" b="b" t="t" l="l"/>
            <a:pathLst>
              <a:path h="821250" w="3799317">
                <a:moveTo>
                  <a:pt x="0" y="0"/>
                </a:moveTo>
                <a:lnTo>
                  <a:pt x="3799317" y="0"/>
                </a:lnTo>
                <a:lnTo>
                  <a:pt x="3799317" y="821249"/>
                </a:lnTo>
                <a:lnTo>
                  <a:pt x="0" y="82124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111308">
            <a:off x="348944" y="4551718"/>
            <a:ext cx="484662" cy="865467"/>
          </a:xfrm>
          <a:custGeom>
            <a:avLst/>
            <a:gdLst/>
            <a:ahLst/>
            <a:cxnLst/>
            <a:rect r="r" b="b" t="t" l="l"/>
            <a:pathLst>
              <a:path h="865467" w="484662">
                <a:moveTo>
                  <a:pt x="0" y="0"/>
                </a:moveTo>
                <a:lnTo>
                  <a:pt x="484662" y="0"/>
                </a:lnTo>
                <a:lnTo>
                  <a:pt x="484662" y="865467"/>
                </a:lnTo>
                <a:lnTo>
                  <a:pt x="0" y="865467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2663127" y="5095875"/>
            <a:ext cx="1019175" cy="5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CIN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Verification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3516101" y="4551718"/>
            <a:ext cx="484662" cy="865467"/>
          </a:xfrm>
          <a:custGeom>
            <a:avLst/>
            <a:gdLst/>
            <a:ahLst/>
            <a:cxnLst/>
            <a:rect r="r" b="b" t="t" l="l"/>
            <a:pathLst>
              <a:path h="865467" w="484662">
                <a:moveTo>
                  <a:pt x="0" y="0"/>
                </a:moveTo>
                <a:lnTo>
                  <a:pt x="484662" y="0"/>
                </a:lnTo>
                <a:lnTo>
                  <a:pt x="484662" y="865467"/>
                </a:lnTo>
                <a:lnTo>
                  <a:pt x="0" y="865467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9914891" y="4187173"/>
            <a:ext cx="1768390" cy="2257668"/>
          </a:xfrm>
          <a:custGeom>
            <a:avLst/>
            <a:gdLst/>
            <a:ahLst/>
            <a:cxnLst/>
            <a:rect r="r" b="b" t="t" l="l"/>
            <a:pathLst>
              <a:path h="2257668" w="1768390">
                <a:moveTo>
                  <a:pt x="0" y="0"/>
                </a:moveTo>
                <a:lnTo>
                  <a:pt x="1768390" y="0"/>
                </a:lnTo>
                <a:lnTo>
                  <a:pt x="1768390" y="2257668"/>
                </a:lnTo>
                <a:lnTo>
                  <a:pt x="0" y="2257668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9986331" y="3541924"/>
            <a:ext cx="523313" cy="934488"/>
          </a:xfrm>
          <a:custGeom>
            <a:avLst/>
            <a:gdLst/>
            <a:ahLst/>
            <a:cxnLst/>
            <a:rect r="r" b="b" t="t" l="l"/>
            <a:pathLst>
              <a:path h="934488" w="523313">
                <a:moveTo>
                  <a:pt x="0" y="0"/>
                </a:moveTo>
                <a:lnTo>
                  <a:pt x="523313" y="0"/>
                </a:lnTo>
                <a:lnTo>
                  <a:pt x="523313" y="934487"/>
                </a:lnTo>
                <a:lnTo>
                  <a:pt x="0" y="934487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9994368" y="4538059"/>
            <a:ext cx="441929" cy="446393"/>
          </a:xfrm>
          <a:custGeom>
            <a:avLst/>
            <a:gdLst/>
            <a:ahLst/>
            <a:cxnLst/>
            <a:rect r="r" b="b" t="t" l="l"/>
            <a:pathLst>
              <a:path h="446393" w="441929">
                <a:moveTo>
                  <a:pt x="0" y="0"/>
                </a:moveTo>
                <a:lnTo>
                  <a:pt x="441929" y="0"/>
                </a:lnTo>
                <a:lnTo>
                  <a:pt x="441929" y="446392"/>
                </a:lnTo>
                <a:lnTo>
                  <a:pt x="0" y="446392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0018067" y="5095717"/>
            <a:ext cx="395030" cy="401046"/>
          </a:xfrm>
          <a:custGeom>
            <a:avLst/>
            <a:gdLst/>
            <a:ahLst/>
            <a:cxnLst/>
            <a:rect r="r" b="b" t="t" l="l"/>
            <a:pathLst>
              <a:path h="401046" w="395030">
                <a:moveTo>
                  <a:pt x="0" y="0"/>
                </a:moveTo>
                <a:lnTo>
                  <a:pt x="395030" y="0"/>
                </a:lnTo>
                <a:lnTo>
                  <a:pt x="395030" y="401046"/>
                </a:lnTo>
                <a:lnTo>
                  <a:pt x="0" y="401046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9994368" y="5605916"/>
            <a:ext cx="418729" cy="425106"/>
          </a:xfrm>
          <a:custGeom>
            <a:avLst/>
            <a:gdLst/>
            <a:ahLst/>
            <a:cxnLst/>
            <a:rect r="r" b="b" t="t" l="l"/>
            <a:pathLst>
              <a:path h="425106" w="418729">
                <a:moveTo>
                  <a:pt x="0" y="0"/>
                </a:moveTo>
                <a:lnTo>
                  <a:pt x="418729" y="0"/>
                </a:lnTo>
                <a:lnTo>
                  <a:pt x="418729" y="425105"/>
                </a:lnTo>
                <a:lnTo>
                  <a:pt x="0" y="425105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2489719" y="3888202"/>
            <a:ext cx="2172228" cy="2773240"/>
          </a:xfrm>
          <a:custGeom>
            <a:avLst/>
            <a:gdLst/>
            <a:ahLst/>
            <a:cxnLst/>
            <a:rect r="r" b="b" t="t" l="l"/>
            <a:pathLst>
              <a:path h="2773240" w="2172228">
                <a:moveTo>
                  <a:pt x="0" y="0"/>
                </a:moveTo>
                <a:lnTo>
                  <a:pt x="2172228" y="0"/>
                </a:lnTo>
                <a:lnTo>
                  <a:pt x="2172228" y="2773240"/>
                </a:lnTo>
                <a:lnTo>
                  <a:pt x="0" y="277324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12576655" y="3391639"/>
            <a:ext cx="523313" cy="934488"/>
          </a:xfrm>
          <a:custGeom>
            <a:avLst/>
            <a:gdLst/>
            <a:ahLst/>
            <a:cxnLst/>
            <a:rect r="r" b="b" t="t" l="l"/>
            <a:pathLst>
              <a:path h="934488" w="523313">
                <a:moveTo>
                  <a:pt x="0" y="0"/>
                </a:moveTo>
                <a:lnTo>
                  <a:pt x="523313" y="0"/>
                </a:lnTo>
                <a:lnTo>
                  <a:pt x="523313" y="934488"/>
                </a:lnTo>
                <a:lnTo>
                  <a:pt x="0" y="93448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2691638" y="4498757"/>
            <a:ext cx="293346" cy="293346"/>
          </a:xfrm>
          <a:custGeom>
            <a:avLst/>
            <a:gdLst/>
            <a:ahLst/>
            <a:cxnLst/>
            <a:rect r="r" b="b" t="t" l="l"/>
            <a:pathLst>
              <a:path h="293346" w="293346">
                <a:moveTo>
                  <a:pt x="0" y="0"/>
                </a:moveTo>
                <a:lnTo>
                  <a:pt x="293346" y="0"/>
                </a:lnTo>
                <a:lnTo>
                  <a:pt x="293346" y="293346"/>
                </a:lnTo>
                <a:lnTo>
                  <a:pt x="0" y="293346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13323068" y="4009168"/>
            <a:ext cx="426846" cy="426846"/>
          </a:xfrm>
          <a:custGeom>
            <a:avLst/>
            <a:gdLst/>
            <a:ahLst/>
            <a:cxnLst/>
            <a:rect r="r" b="b" t="t" l="l"/>
            <a:pathLst>
              <a:path h="426846" w="426846">
                <a:moveTo>
                  <a:pt x="0" y="0"/>
                </a:moveTo>
                <a:lnTo>
                  <a:pt x="426846" y="0"/>
                </a:lnTo>
                <a:lnTo>
                  <a:pt x="426846" y="426845"/>
                </a:lnTo>
                <a:lnTo>
                  <a:pt x="0" y="426845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12691638" y="4915928"/>
            <a:ext cx="293346" cy="293346"/>
          </a:xfrm>
          <a:custGeom>
            <a:avLst/>
            <a:gdLst/>
            <a:ahLst/>
            <a:cxnLst/>
            <a:rect r="r" b="b" t="t" l="l"/>
            <a:pathLst>
              <a:path h="293346" w="293346">
                <a:moveTo>
                  <a:pt x="0" y="0"/>
                </a:moveTo>
                <a:lnTo>
                  <a:pt x="293346" y="0"/>
                </a:lnTo>
                <a:lnTo>
                  <a:pt x="293346" y="293346"/>
                </a:lnTo>
                <a:lnTo>
                  <a:pt x="0" y="293346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12691638" y="5459243"/>
            <a:ext cx="293346" cy="293346"/>
          </a:xfrm>
          <a:custGeom>
            <a:avLst/>
            <a:gdLst/>
            <a:ahLst/>
            <a:cxnLst/>
            <a:rect r="r" b="b" t="t" l="l"/>
            <a:pathLst>
              <a:path h="293346" w="293346">
                <a:moveTo>
                  <a:pt x="0" y="0"/>
                </a:moveTo>
                <a:lnTo>
                  <a:pt x="293346" y="0"/>
                </a:lnTo>
                <a:lnTo>
                  <a:pt x="293346" y="293346"/>
                </a:lnTo>
                <a:lnTo>
                  <a:pt x="0" y="293346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12691638" y="5940742"/>
            <a:ext cx="293346" cy="293346"/>
          </a:xfrm>
          <a:custGeom>
            <a:avLst/>
            <a:gdLst/>
            <a:ahLst/>
            <a:cxnLst/>
            <a:rect r="r" b="b" t="t" l="l"/>
            <a:pathLst>
              <a:path h="293346" w="293346">
                <a:moveTo>
                  <a:pt x="0" y="0"/>
                </a:moveTo>
                <a:lnTo>
                  <a:pt x="293346" y="0"/>
                </a:lnTo>
                <a:lnTo>
                  <a:pt x="293346" y="293346"/>
                </a:lnTo>
                <a:lnTo>
                  <a:pt x="0" y="293346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4062256" y="5634068"/>
            <a:ext cx="411450" cy="411450"/>
          </a:xfrm>
          <a:custGeom>
            <a:avLst/>
            <a:gdLst/>
            <a:ahLst/>
            <a:cxnLst/>
            <a:rect r="r" b="b" t="t" l="l"/>
            <a:pathLst>
              <a:path h="411450" w="411450">
                <a:moveTo>
                  <a:pt x="0" y="0"/>
                </a:moveTo>
                <a:lnTo>
                  <a:pt x="411450" y="0"/>
                </a:lnTo>
                <a:lnTo>
                  <a:pt x="411450" y="411450"/>
                </a:lnTo>
                <a:lnTo>
                  <a:pt x="0" y="411450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5400000">
            <a:off x="7574212" y="4100338"/>
            <a:ext cx="1941740" cy="2505515"/>
          </a:xfrm>
          <a:custGeom>
            <a:avLst/>
            <a:gdLst/>
            <a:ahLst/>
            <a:cxnLst/>
            <a:rect r="r" b="b" t="t" l="l"/>
            <a:pathLst>
              <a:path h="2505515" w="1941740">
                <a:moveTo>
                  <a:pt x="0" y="0"/>
                </a:moveTo>
                <a:lnTo>
                  <a:pt x="1941740" y="0"/>
                </a:lnTo>
                <a:lnTo>
                  <a:pt x="1941740" y="2505515"/>
                </a:lnTo>
                <a:lnTo>
                  <a:pt x="0" y="2505515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 l="0" t="0" r="-107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7420585" y="3450110"/>
            <a:ext cx="692823" cy="1237185"/>
          </a:xfrm>
          <a:custGeom>
            <a:avLst/>
            <a:gdLst/>
            <a:ahLst/>
            <a:cxnLst/>
            <a:rect r="r" b="b" t="t" l="l"/>
            <a:pathLst>
              <a:path h="1237185" w="692823">
                <a:moveTo>
                  <a:pt x="0" y="0"/>
                </a:moveTo>
                <a:lnTo>
                  <a:pt x="692824" y="0"/>
                </a:lnTo>
                <a:lnTo>
                  <a:pt x="692824" y="1237185"/>
                </a:lnTo>
                <a:lnTo>
                  <a:pt x="0" y="123718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-7994444">
            <a:off x="14836387" y="3415563"/>
            <a:ext cx="780686" cy="1394083"/>
          </a:xfrm>
          <a:custGeom>
            <a:avLst/>
            <a:gdLst/>
            <a:ahLst/>
            <a:cxnLst/>
            <a:rect r="r" b="b" t="t" l="l"/>
            <a:pathLst>
              <a:path h="1394083" w="780686">
                <a:moveTo>
                  <a:pt x="0" y="0"/>
                </a:moveTo>
                <a:lnTo>
                  <a:pt x="780687" y="0"/>
                </a:lnTo>
                <a:lnTo>
                  <a:pt x="780687" y="1394083"/>
                </a:lnTo>
                <a:lnTo>
                  <a:pt x="0" y="139408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-5400000">
            <a:off x="4765970" y="4635833"/>
            <a:ext cx="1768390" cy="2257668"/>
          </a:xfrm>
          <a:custGeom>
            <a:avLst/>
            <a:gdLst/>
            <a:ahLst/>
            <a:cxnLst/>
            <a:rect r="r" b="b" t="t" l="l"/>
            <a:pathLst>
              <a:path h="2257668" w="1768390">
                <a:moveTo>
                  <a:pt x="0" y="0"/>
                </a:moveTo>
                <a:lnTo>
                  <a:pt x="1768390" y="0"/>
                </a:lnTo>
                <a:lnTo>
                  <a:pt x="1768390" y="2257668"/>
                </a:lnTo>
                <a:lnTo>
                  <a:pt x="0" y="225766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5192806" y="5023846"/>
            <a:ext cx="870794" cy="870794"/>
          </a:xfrm>
          <a:custGeom>
            <a:avLst/>
            <a:gdLst/>
            <a:ahLst/>
            <a:cxnLst/>
            <a:rect r="r" b="b" t="t" l="l"/>
            <a:pathLst>
              <a:path h="870794" w="870794">
                <a:moveTo>
                  <a:pt x="0" y="0"/>
                </a:moveTo>
                <a:lnTo>
                  <a:pt x="870794" y="0"/>
                </a:lnTo>
                <a:lnTo>
                  <a:pt x="870794" y="870794"/>
                </a:lnTo>
                <a:lnTo>
                  <a:pt x="0" y="870794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4442249">
            <a:off x="5221930" y="3627526"/>
            <a:ext cx="1186943" cy="1211166"/>
          </a:xfrm>
          <a:custGeom>
            <a:avLst/>
            <a:gdLst/>
            <a:ahLst/>
            <a:cxnLst/>
            <a:rect r="r" b="b" t="t" l="l"/>
            <a:pathLst>
              <a:path h="1211166" w="1186943">
                <a:moveTo>
                  <a:pt x="0" y="0"/>
                </a:moveTo>
                <a:lnTo>
                  <a:pt x="1186943" y="0"/>
                </a:lnTo>
                <a:lnTo>
                  <a:pt x="1186943" y="1211166"/>
                </a:lnTo>
                <a:lnTo>
                  <a:pt x="0" y="1211166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-5400000">
            <a:off x="15416085" y="4116894"/>
            <a:ext cx="1996477" cy="2659416"/>
          </a:xfrm>
          <a:custGeom>
            <a:avLst/>
            <a:gdLst/>
            <a:ahLst/>
            <a:cxnLst/>
            <a:rect r="r" b="b" t="t" l="l"/>
            <a:pathLst>
              <a:path h="2659416" w="1996477">
                <a:moveTo>
                  <a:pt x="0" y="0"/>
                </a:moveTo>
                <a:lnTo>
                  <a:pt x="1996476" y="0"/>
                </a:lnTo>
                <a:lnTo>
                  <a:pt x="1996476" y="2659417"/>
                </a:lnTo>
                <a:lnTo>
                  <a:pt x="0" y="2659417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 l="-2168" t="0" r="-2168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15996585" y="4578447"/>
            <a:ext cx="904541" cy="918316"/>
          </a:xfrm>
          <a:custGeom>
            <a:avLst/>
            <a:gdLst/>
            <a:ahLst/>
            <a:cxnLst/>
            <a:rect r="r" b="b" t="t" l="l"/>
            <a:pathLst>
              <a:path h="918316" w="904541">
                <a:moveTo>
                  <a:pt x="0" y="0"/>
                </a:moveTo>
                <a:lnTo>
                  <a:pt x="904541" y="0"/>
                </a:lnTo>
                <a:lnTo>
                  <a:pt x="904541" y="918316"/>
                </a:lnTo>
                <a:lnTo>
                  <a:pt x="0" y="918316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2952178">
            <a:off x="16157515" y="3535895"/>
            <a:ext cx="1605275" cy="1364484"/>
          </a:xfrm>
          <a:custGeom>
            <a:avLst/>
            <a:gdLst/>
            <a:ahLst/>
            <a:cxnLst/>
            <a:rect r="r" b="b" t="t" l="l"/>
            <a:pathLst>
              <a:path h="1364484" w="1605275">
                <a:moveTo>
                  <a:pt x="0" y="0"/>
                </a:moveTo>
                <a:lnTo>
                  <a:pt x="1605276" y="0"/>
                </a:lnTo>
                <a:lnTo>
                  <a:pt x="1605276" y="1364484"/>
                </a:lnTo>
                <a:lnTo>
                  <a:pt x="0" y="1364484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5400000">
            <a:off x="2310218" y="2321738"/>
            <a:ext cx="619938" cy="619938"/>
          </a:xfrm>
          <a:custGeom>
            <a:avLst/>
            <a:gdLst/>
            <a:ahLst/>
            <a:cxnLst/>
            <a:rect r="r" b="b" t="t" l="l"/>
            <a:pathLst>
              <a:path h="619938" w="619938">
                <a:moveTo>
                  <a:pt x="0" y="0"/>
                </a:moveTo>
                <a:lnTo>
                  <a:pt x="619938" y="0"/>
                </a:lnTo>
                <a:lnTo>
                  <a:pt x="619938" y="619938"/>
                </a:lnTo>
                <a:lnTo>
                  <a:pt x="0" y="619938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5400000">
            <a:off x="4752693" y="2337893"/>
            <a:ext cx="619938" cy="619938"/>
          </a:xfrm>
          <a:custGeom>
            <a:avLst/>
            <a:gdLst/>
            <a:ahLst/>
            <a:cxnLst/>
            <a:rect r="r" b="b" t="t" l="l"/>
            <a:pathLst>
              <a:path h="619938" w="619938">
                <a:moveTo>
                  <a:pt x="0" y="0"/>
                </a:moveTo>
                <a:lnTo>
                  <a:pt x="619938" y="0"/>
                </a:lnTo>
                <a:lnTo>
                  <a:pt x="619938" y="619938"/>
                </a:lnTo>
                <a:lnTo>
                  <a:pt x="0" y="619938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5400000">
            <a:off x="12040644" y="2375996"/>
            <a:ext cx="619938" cy="619938"/>
          </a:xfrm>
          <a:custGeom>
            <a:avLst/>
            <a:gdLst/>
            <a:ahLst/>
            <a:cxnLst/>
            <a:rect r="r" b="b" t="t" l="l"/>
            <a:pathLst>
              <a:path h="619938" w="619938">
                <a:moveTo>
                  <a:pt x="0" y="0"/>
                </a:moveTo>
                <a:lnTo>
                  <a:pt x="619938" y="0"/>
                </a:lnTo>
                <a:lnTo>
                  <a:pt x="619938" y="619938"/>
                </a:lnTo>
                <a:lnTo>
                  <a:pt x="0" y="619938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5400000">
            <a:off x="9634079" y="2358969"/>
            <a:ext cx="619938" cy="619938"/>
          </a:xfrm>
          <a:custGeom>
            <a:avLst/>
            <a:gdLst/>
            <a:ahLst/>
            <a:cxnLst/>
            <a:rect r="r" b="b" t="t" l="l"/>
            <a:pathLst>
              <a:path h="619938" w="619938">
                <a:moveTo>
                  <a:pt x="0" y="0"/>
                </a:moveTo>
                <a:lnTo>
                  <a:pt x="619938" y="0"/>
                </a:lnTo>
                <a:lnTo>
                  <a:pt x="619938" y="619938"/>
                </a:lnTo>
                <a:lnTo>
                  <a:pt x="0" y="619938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>
              <a:fillRect l="0" t="0" r="0" b="0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5400000">
            <a:off x="7188646" y="2375996"/>
            <a:ext cx="619938" cy="619938"/>
          </a:xfrm>
          <a:custGeom>
            <a:avLst/>
            <a:gdLst/>
            <a:ahLst/>
            <a:cxnLst/>
            <a:rect r="r" b="b" t="t" l="l"/>
            <a:pathLst>
              <a:path h="619938" w="619938">
                <a:moveTo>
                  <a:pt x="0" y="0"/>
                </a:moveTo>
                <a:lnTo>
                  <a:pt x="619938" y="0"/>
                </a:lnTo>
                <a:lnTo>
                  <a:pt x="619938" y="619938"/>
                </a:lnTo>
                <a:lnTo>
                  <a:pt x="0" y="619938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5400000">
            <a:off x="14438497" y="2401375"/>
            <a:ext cx="619938" cy="619938"/>
          </a:xfrm>
          <a:custGeom>
            <a:avLst/>
            <a:gdLst/>
            <a:ahLst/>
            <a:cxnLst/>
            <a:rect r="r" b="b" t="t" l="l"/>
            <a:pathLst>
              <a:path h="619938" w="619938">
                <a:moveTo>
                  <a:pt x="0" y="0"/>
                </a:moveTo>
                <a:lnTo>
                  <a:pt x="619938" y="0"/>
                </a:lnTo>
                <a:lnTo>
                  <a:pt x="619938" y="619937"/>
                </a:lnTo>
                <a:lnTo>
                  <a:pt x="0" y="619937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>
              <a:fillRect l="0" t="0" r="0" b="0"/>
            </a:stretch>
          </a:blipFill>
        </p:spPr>
      </p:sp>
      <p:grpSp>
        <p:nvGrpSpPr>
          <p:cNvPr name="Group 82" id="82"/>
          <p:cNvGrpSpPr/>
          <p:nvPr/>
        </p:nvGrpSpPr>
        <p:grpSpPr>
          <a:xfrm rot="0">
            <a:off x="430001" y="7323020"/>
            <a:ext cx="3086100" cy="1684561"/>
            <a:chOff x="0" y="0"/>
            <a:chExt cx="812800" cy="44367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12800" cy="443670"/>
            </a:xfrm>
            <a:custGeom>
              <a:avLst/>
              <a:gdLst/>
              <a:ahLst/>
              <a:cxnLst/>
              <a:rect r="r" b="b" t="t" l="l"/>
              <a:pathLst>
                <a:path h="443670" w="812800">
                  <a:moveTo>
                    <a:pt x="609600" y="0"/>
                  </a:moveTo>
                  <a:lnTo>
                    <a:pt x="0" y="0"/>
                  </a:lnTo>
                  <a:lnTo>
                    <a:pt x="0" y="443670"/>
                  </a:lnTo>
                  <a:lnTo>
                    <a:pt x="609600" y="443670"/>
                  </a:lnTo>
                  <a:lnTo>
                    <a:pt x="812800" y="221835"/>
                  </a:lnTo>
                  <a:lnTo>
                    <a:pt x="6096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28000"/>
                  </a:srgbClr>
                </a:gs>
                <a:gs pos="100000">
                  <a:srgbClr val="94B9FF">
                    <a:alpha val="28000"/>
                  </a:srgbClr>
                </a:gs>
              </a:gsLst>
              <a:lin ang="0"/>
            </a:grad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698500" cy="4912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Freeform 85" id="85"/>
          <p:cNvSpPr/>
          <p:nvPr/>
        </p:nvSpPr>
        <p:spPr>
          <a:xfrm flipH="false" flipV="false" rot="0">
            <a:off x="3381929" y="1579852"/>
            <a:ext cx="886052" cy="886052"/>
          </a:xfrm>
          <a:custGeom>
            <a:avLst/>
            <a:gdLst/>
            <a:ahLst/>
            <a:cxnLst/>
            <a:rect r="r" b="b" t="t" l="l"/>
            <a:pathLst>
              <a:path h="886052" w="886052">
                <a:moveTo>
                  <a:pt x="0" y="0"/>
                </a:moveTo>
                <a:lnTo>
                  <a:pt x="886052" y="0"/>
                </a:lnTo>
                <a:lnTo>
                  <a:pt x="886052" y="886052"/>
                </a:lnTo>
                <a:lnTo>
                  <a:pt x="0" y="886052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>
              <a:fillRect l="0" t="0" r="0" b="0"/>
            </a:stretch>
          </a:blipFill>
        </p:spPr>
      </p:sp>
      <p:sp>
        <p:nvSpPr>
          <p:cNvPr name="TextBox 86" id="86"/>
          <p:cNvSpPr txBox="true"/>
          <p:nvPr/>
        </p:nvSpPr>
        <p:spPr>
          <a:xfrm rot="0">
            <a:off x="803262" y="2787119"/>
            <a:ext cx="1055390" cy="5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StartUp 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Registration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5317992" y="2796644"/>
            <a:ext cx="1199257" cy="5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Rewards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Disbursement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3084006" y="2802276"/>
            <a:ext cx="983655" cy="5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Pilot 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Monitoring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0544053" y="2843443"/>
            <a:ext cx="1221383" cy="5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AI/ML Model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Sorting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8146876" y="2715268"/>
            <a:ext cx="1300857" cy="514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3"/>
              </a:lnSpc>
            </a:pPr>
            <a:r>
              <a:rPr lang="en-US" sz="14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StartUp </a:t>
            </a:r>
          </a:p>
          <a:p>
            <a:pPr algn="ctr">
              <a:lnSpc>
                <a:spcPts val="2073"/>
              </a:lnSpc>
            </a:pPr>
            <a:r>
              <a:rPr lang="en-US" sz="14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Submits Solution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5730135" y="2772168"/>
            <a:ext cx="1079202" cy="5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Government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3223732" y="2624530"/>
            <a:ext cx="1157486" cy="890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Processing &amp;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Verification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096523" y="4208728"/>
            <a:ext cx="2088356" cy="39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</a:pPr>
            <a:r>
              <a:rPr lang="en-US" sz="225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Verification Layer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841751" y="5796316"/>
            <a:ext cx="1004193" cy="640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6"/>
              </a:lnSpc>
            </a:pPr>
            <a:r>
              <a:rPr lang="en-US" sz="176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Mock Data</a:t>
            </a:r>
          </a:p>
          <a:p>
            <a:pPr algn="ctr">
              <a:lnSpc>
                <a:spcPts val="2476"/>
              </a:lnSpc>
            </a:pPr>
            <a:r>
              <a:rPr lang="en-US" sz="176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API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876639" y="5182271"/>
            <a:ext cx="959148" cy="5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DPIIT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Verificaton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2868497" y="5719445"/>
            <a:ext cx="491927" cy="5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MCA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0527916" y="4546918"/>
            <a:ext cx="887611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StartUp01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0545180" y="5142334"/>
            <a:ext cx="887611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StartUp02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0521980" y="5678821"/>
            <a:ext cx="887611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StartUp03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3088699" y="4424838"/>
            <a:ext cx="1337171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KPI Evaluation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3179465" y="4857908"/>
            <a:ext cx="983655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MileStones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3152060" y="5374323"/>
            <a:ext cx="1217116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Expert Report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3086080" y="5893117"/>
            <a:ext cx="863302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FeedBack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7783677" y="4744478"/>
            <a:ext cx="1522809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 in Database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8040984" y="5079048"/>
            <a:ext cx="1055588" cy="890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PostgreSQL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pgVector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4986352" y="5960275"/>
            <a:ext cx="1175345" cy="433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6"/>
              </a:lnSpc>
            </a:pPr>
            <a:r>
              <a:rPr lang="en-US" sz="24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Verified !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5874914" y="5852791"/>
            <a:ext cx="926902" cy="433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6"/>
              </a:lnSpc>
            </a:pPr>
            <a:r>
              <a:rPr lang="en-US" sz="24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Scaling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649076" y="8950431"/>
            <a:ext cx="2142827" cy="39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</a:pPr>
            <a:r>
              <a:rPr lang="en-US" sz="2252" b="true">
                <a:solidFill>
                  <a:srgbClr val="E3003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Technology Stack</a:t>
            </a:r>
          </a:p>
        </p:txBody>
      </p:sp>
      <p:sp>
        <p:nvSpPr>
          <p:cNvPr name="Freeform 109" id="109">
            <a:hlinkClick r:id="rId49" tooltip="https://lazycoder-s-portfolio.onrender.com"/>
          </p:cNvPr>
          <p:cNvSpPr/>
          <p:nvPr/>
        </p:nvSpPr>
        <p:spPr>
          <a:xfrm flipH="false" flipV="false" rot="0">
            <a:off x="28324" y="56649"/>
            <a:ext cx="1245095" cy="1245095"/>
          </a:xfrm>
          <a:custGeom>
            <a:avLst/>
            <a:gdLst/>
            <a:ahLst/>
            <a:cxnLst/>
            <a:rect r="r" b="b" t="t" l="l"/>
            <a:pathLst>
              <a:path h="1245095" w="1245095">
                <a:moveTo>
                  <a:pt x="0" y="0"/>
                </a:moveTo>
                <a:lnTo>
                  <a:pt x="1245096" y="0"/>
                </a:lnTo>
                <a:lnTo>
                  <a:pt x="1245096" y="1245095"/>
                </a:lnTo>
                <a:lnTo>
                  <a:pt x="0" y="1245095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387753" y="-285244"/>
            <a:ext cx="11069729" cy="1714500"/>
            <a:chOff x="0" y="0"/>
            <a:chExt cx="14759639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759639" cy="2286000"/>
            </a:xfrm>
            <a:custGeom>
              <a:avLst/>
              <a:gdLst/>
              <a:ahLst/>
              <a:cxnLst/>
              <a:rect r="r" b="b" t="t" l="l"/>
              <a:pathLst>
                <a:path h="2286000" w="14759639">
                  <a:moveTo>
                    <a:pt x="0" y="0"/>
                  </a:moveTo>
                  <a:lnTo>
                    <a:pt x="14759639" y="0"/>
                  </a:lnTo>
                  <a:lnTo>
                    <a:pt x="14759639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-48686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4759639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841458" y="1819781"/>
            <a:ext cx="261957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41602" y="2324606"/>
            <a:ext cx="349230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b="true" sz="19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Can we build and implementn it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51059" y="1939661"/>
            <a:ext cx="5300903" cy="1002668"/>
            <a:chOff x="0" y="0"/>
            <a:chExt cx="2064931" cy="39058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64931" cy="390583"/>
            </a:xfrm>
            <a:custGeom>
              <a:avLst/>
              <a:gdLst/>
              <a:ahLst/>
              <a:cxnLst/>
              <a:rect r="r" b="b" t="t" l="l"/>
              <a:pathLst>
                <a:path h="390583" w="2064931">
                  <a:moveTo>
                    <a:pt x="1861731" y="0"/>
                  </a:moveTo>
                  <a:cubicBezTo>
                    <a:pt x="1973955" y="0"/>
                    <a:pt x="2064931" y="87435"/>
                    <a:pt x="2064931" y="195291"/>
                  </a:cubicBezTo>
                  <a:cubicBezTo>
                    <a:pt x="2064931" y="303148"/>
                    <a:pt x="1973955" y="390583"/>
                    <a:pt x="1861731" y="390583"/>
                  </a:cubicBezTo>
                  <a:lnTo>
                    <a:pt x="203200" y="390583"/>
                  </a:lnTo>
                  <a:cubicBezTo>
                    <a:pt x="90976" y="390583"/>
                    <a:pt x="0" y="303148"/>
                    <a:pt x="0" y="195291"/>
                  </a:cubicBezTo>
                  <a:cubicBezTo>
                    <a:pt x="0" y="8743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4457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2064931" cy="4096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51059" y="1920264"/>
            <a:ext cx="1035548" cy="103554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58284" y="1923221"/>
            <a:ext cx="1035548" cy="103554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457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976896" y="2148609"/>
            <a:ext cx="587752" cy="587752"/>
          </a:xfrm>
          <a:custGeom>
            <a:avLst/>
            <a:gdLst/>
            <a:ahLst/>
            <a:cxnLst/>
            <a:rect r="r" b="b" t="t" l="l"/>
            <a:pathLst>
              <a:path h="587752" w="587752">
                <a:moveTo>
                  <a:pt x="0" y="0"/>
                </a:moveTo>
                <a:lnTo>
                  <a:pt x="587751" y="0"/>
                </a:lnTo>
                <a:lnTo>
                  <a:pt x="587751" y="587752"/>
                </a:lnTo>
                <a:lnTo>
                  <a:pt x="0" y="5877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584959" y="6664304"/>
            <a:ext cx="783874" cy="783874"/>
            <a:chOff x="0" y="0"/>
            <a:chExt cx="640575" cy="64057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0588" cy="640588"/>
            </a:xfrm>
            <a:custGeom>
              <a:avLst/>
              <a:gdLst/>
              <a:ahLst/>
              <a:cxnLst/>
              <a:rect r="r" b="b" t="t" l="l"/>
              <a:pathLst>
                <a:path h="640588" w="640588">
                  <a:moveTo>
                    <a:pt x="0" y="320294"/>
                  </a:moveTo>
                  <a:cubicBezTo>
                    <a:pt x="0" y="143383"/>
                    <a:pt x="143383" y="0"/>
                    <a:pt x="320294" y="0"/>
                  </a:cubicBezTo>
                  <a:cubicBezTo>
                    <a:pt x="497205" y="0"/>
                    <a:pt x="640588" y="143383"/>
                    <a:pt x="640588" y="320294"/>
                  </a:cubicBezTo>
                  <a:cubicBezTo>
                    <a:pt x="640588" y="497205"/>
                    <a:pt x="497205" y="640588"/>
                    <a:pt x="320294" y="640588"/>
                  </a:cubicBezTo>
                  <a:cubicBezTo>
                    <a:pt x="143383" y="640588"/>
                    <a:pt x="0" y="497205"/>
                    <a:pt x="0" y="320294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216784" y="1980435"/>
            <a:ext cx="5300903" cy="1002668"/>
            <a:chOff x="0" y="0"/>
            <a:chExt cx="2064931" cy="39058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64931" cy="390583"/>
            </a:xfrm>
            <a:custGeom>
              <a:avLst/>
              <a:gdLst/>
              <a:ahLst/>
              <a:cxnLst/>
              <a:rect r="r" b="b" t="t" l="l"/>
              <a:pathLst>
                <a:path h="390583" w="2064931">
                  <a:moveTo>
                    <a:pt x="1861731" y="0"/>
                  </a:moveTo>
                  <a:cubicBezTo>
                    <a:pt x="1973955" y="0"/>
                    <a:pt x="2064931" y="87435"/>
                    <a:pt x="2064931" y="195291"/>
                  </a:cubicBezTo>
                  <a:cubicBezTo>
                    <a:pt x="2064931" y="303148"/>
                    <a:pt x="1973955" y="390583"/>
                    <a:pt x="1861731" y="390583"/>
                  </a:cubicBezTo>
                  <a:lnTo>
                    <a:pt x="203200" y="390583"/>
                  </a:lnTo>
                  <a:cubicBezTo>
                    <a:pt x="90976" y="390583"/>
                    <a:pt x="0" y="303148"/>
                    <a:pt x="0" y="195291"/>
                  </a:cubicBezTo>
                  <a:cubicBezTo>
                    <a:pt x="0" y="8743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29E7E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2064931" cy="4096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285421" y="1939661"/>
            <a:ext cx="1035548" cy="1035548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179441" y="1947554"/>
            <a:ext cx="1035548" cy="1035548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9E7E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76896" y="7839780"/>
            <a:ext cx="4777896" cy="939346"/>
            <a:chOff x="0" y="0"/>
            <a:chExt cx="2492200" cy="48997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492200" cy="489973"/>
            </a:xfrm>
            <a:custGeom>
              <a:avLst/>
              <a:gdLst/>
              <a:ahLst/>
              <a:cxnLst/>
              <a:rect r="r" b="b" t="t" l="l"/>
              <a:pathLst>
                <a:path h="489973" w="2492200">
                  <a:moveTo>
                    <a:pt x="2289000" y="0"/>
                  </a:moveTo>
                  <a:cubicBezTo>
                    <a:pt x="2401225" y="0"/>
                    <a:pt x="2492200" y="109684"/>
                    <a:pt x="2492200" y="244986"/>
                  </a:cubicBezTo>
                  <a:cubicBezTo>
                    <a:pt x="2492200" y="380288"/>
                    <a:pt x="2401225" y="489973"/>
                    <a:pt x="2289000" y="489973"/>
                  </a:cubicBezTo>
                  <a:lnTo>
                    <a:pt x="203200" y="489973"/>
                  </a:lnTo>
                  <a:cubicBezTo>
                    <a:pt x="90976" y="489973"/>
                    <a:pt x="0" y="380288"/>
                    <a:pt x="0" y="244986"/>
                  </a:cubicBezTo>
                  <a:cubicBezTo>
                    <a:pt x="0" y="10968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1EFF9">
                <a:alpha val="64706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2492200" cy="509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1085812" y="7909055"/>
            <a:ext cx="800796" cy="800796"/>
          </a:xfrm>
          <a:custGeom>
            <a:avLst/>
            <a:gdLst/>
            <a:ahLst/>
            <a:cxnLst/>
            <a:rect r="r" b="b" t="t" l="l"/>
            <a:pathLst>
              <a:path h="800796" w="800796">
                <a:moveTo>
                  <a:pt x="0" y="0"/>
                </a:moveTo>
                <a:lnTo>
                  <a:pt x="800795" y="0"/>
                </a:lnTo>
                <a:lnTo>
                  <a:pt x="800795" y="800796"/>
                </a:lnTo>
                <a:lnTo>
                  <a:pt x="0" y="8007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42" id="42"/>
          <p:cNvSpPr/>
          <p:nvPr/>
        </p:nvSpPr>
        <p:spPr>
          <a:xfrm>
            <a:off x="2628866" y="8613800"/>
            <a:ext cx="1044758" cy="0"/>
          </a:xfrm>
          <a:prstGeom prst="line">
            <a:avLst/>
          </a:prstGeom>
          <a:ln cap="flat" w="38100">
            <a:solidFill>
              <a:srgbClr val="129E7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3" id="43"/>
          <p:cNvSpPr/>
          <p:nvPr/>
        </p:nvSpPr>
        <p:spPr>
          <a:xfrm flipH="false" flipV="false" rot="0">
            <a:off x="12285421" y="2033193"/>
            <a:ext cx="730045" cy="730045"/>
          </a:xfrm>
          <a:custGeom>
            <a:avLst/>
            <a:gdLst/>
            <a:ahLst/>
            <a:cxnLst/>
            <a:rect r="r" b="b" t="t" l="l"/>
            <a:pathLst>
              <a:path h="730045" w="730045">
                <a:moveTo>
                  <a:pt x="0" y="0"/>
                </a:moveTo>
                <a:lnTo>
                  <a:pt x="730046" y="0"/>
                </a:lnTo>
                <a:lnTo>
                  <a:pt x="730046" y="730045"/>
                </a:lnTo>
                <a:lnTo>
                  <a:pt x="0" y="7300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11898476" y="6705622"/>
            <a:ext cx="783874" cy="783874"/>
            <a:chOff x="0" y="0"/>
            <a:chExt cx="640575" cy="64057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40588" cy="640588"/>
            </a:xfrm>
            <a:custGeom>
              <a:avLst/>
              <a:gdLst/>
              <a:ahLst/>
              <a:cxnLst/>
              <a:rect r="r" b="b" t="t" l="l"/>
              <a:pathLst>
                <a:path h="640588" w="640588">
                  <a:moveTo>
                    <a:pt x="0" y="320294"/>
                  </a:moveTo>
                  <a:cubicBezTo>
                    <a:pt x="0" y="143383"/>
                    <a:pt x="143383" y="0"/>
                    <a:pt x="320294" y="0"/>
                  </a:cubicBezTo>
                  <a:cubicBezTo>
                    <a:pt x="497205" y="0"/>
                    <a:pt x="640588" y="143383"/>
                    <a:pt x="640588" y="320294"/>
                  </a:cubicBezTo>
                  <a:cubicBezTo>
                    <a:pt x="640588" y="497205"/>
                    <a:pt x="497205" y="640588"/>
                    <a:pt x="320294" y="640588"/>
                  </a:cubicBezTo>
                  <a:cubicBezTo>
                    <a:pt x="143383" y="640588"/>
                    <a:pt x="0" y="497205"/>
                    <a:pt x="0" y="320294"/>
                  </a:cubicBez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170238" y="7915866"/>
            <a:ext cx="4777896" cy="939346"/>
            <a:chOff x="0" y="0"/>
            <a:chExt cx="2492200" cy="48997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92200" cy="489973"/>
            </a:xfrm>
            <a:custGeom>
              <a:avLst/>
              <a:gdLst/>
              <a:ahLst/>
              <a:cxnLst/>
              <a:rect r="r" b="b" t="t" l="l"/>
              <a:pathLst>
                <a:path h="489973" w="2492200">
                  <a:moveTo>
                    <a:pt x="2289000" y="0"/>
                  </a:moveTo>
                  <a:cubicBezTo>
                    <a:pt x="2401225" y="0"/>
                    <a:pt x="2492200" y="109684"/>
                    <a:pt x="2492200" y="244986"/>
                  </a:cubicBezTo>
                  <a:cubicBezTo>
                    <a:pt x="2492200" y="380288"/>
                    <a:pt x="2401225" y="489973"/>
                    <a:pt x="2289000" y="489973"/>
                  </a:cubicBezTo>
                  <a:lnTo>
                    <a:pt x="203200" y="489973"/>
                  </a:lnTo>
                  <a:cubicBezTo>
                    <a:pt x="90976" y="489973"/>
                    <a:pt x="0" y="380288"/>
                    <a:pt x="0" y="244986"/>
                  </a:cubicBezTo>
                  <a:cubicBezTo>
                    <a:pt x="0" y="10968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BF63">
                <a:alpha val="43922"/>
              </a:srgbClr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2492200" cy="509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AutoShape 49" id="49"/>
          <p:cNvSpPr/>
          <p:nvPr/>
        </p:nvSpPr>
        <p:spPr>
          <a:xfrm>
            <a:off x="13822208" y="8689886"/>
            <a:ext cx="1044758" cy="0"/>
          </a:xfrm>
          <a:prstGeom prst="line">
            <a:avLst/>
          </a:prstGeom>
          <a:ln cap="flat" w="38100">
            <a:solidFill>
              <a:srgbClr val="129E7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0" id="50"/>
          <p:cNvSpPr/>
          <p:nvPr/>
        </p:nvSpPr>
        <p:spPr>
          <a:xfrm flipH="false" flipV="false" rot="0">
            <a:off x="12319790" y="7973016"/>
            <a:ext cx="786610" cy="786610"/>
          </a:xfrm>
          <a:custGeom>
            <a:avLst/>
            <a:gdLst/>
            <a:ahLst/>
            <a:cxnLst/>
            <a:rect r="r" b="b" t="t" l="l"/>
            <a:pathLst>
              <a:path h="786610" w="786610">
                <a:moveTo>
                  <a:pt x="0" y="0"/>
                </a:moveTo>
                <a:lnTo>
                  <a:pt x="786610" y="0"/>
                </a:lnTo>
                <a:lnTo>
                  <a:pt x="786610" y="786609"/>
                </a:lnTo>
                <a:lnTo>
                  <a:pt x="0" y="78660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6252529" y="2617299"/>
            <a:ext cx="5452631" cy="5250770"/>
          </a:xfrm>
          <a:custGeom>
            <a:avLst/>
            <a:gdLst/>
            <a:ahLst/>
            <a:cxnLst/>
            <a:rect r="r" b="b" t="t" l="l"/>
            <a:pathLst>
              <a:path h="5250770" w="5452631">
                <a:moveTo>
                  <a:pt x="0" y="0"/>
                </a:moveTo>
                <a:lnTo>
                  <a:pt x="5452631" y="0"/>
                </a:lnTo>
                <a:lnTo>
                  <a:pt x="5452631" y="5250770"/>
                </a:lnTo>
                <a:lnTo>
                  <a:pt x="0" y="52507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144" t="0" r="-2144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1913725" y="5541172"/>
            <a:ext cx="736719" cy="707250"/>
          </a:xfrm>
          <a:custGeom>
            <a:avLst/>
            <a:gdLst/>
            <a:ahLst/>
            <a:cxnLst/>
            <a:rect r="r" b="b" t="t" l="l"/>
            <a:pathLst>
              <a:path h="707250" w="736719">
                <a:moveTo>
                  <a:pt x="0" y="0"/>
                </a:moveTo>
                <a:lnTo>
                  <a:pt x="736719" y="0"/>
                </a:lnTo>
                <a:lnTo>
                  <a:pt x="736719" y="707250"/>
                </a:lnTo>
                <a:lnTo>
                  <a:pt x="0" y="707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663121" y="5541172"/>
            <a:ext cx="587906" cy="744185"/>
          </a:xfrm>
          <a:custGeom>
            <a:avLst/>
            <a:gdLst/>
            <a:ahLst/>
            <a:cxnLst/>
            <a:rect r="r" b="b" t="t" l="l"/>
            <a:pathLst>
              <a:path h="744185" w="587906">
                <a:moveTo>
                  <a:pt x="0" y="0"/>
                </a:moveTo>
                <a:lnTo>
                  <a:pt x="587906" y="0"/>
                </a:lnTo>
                <a:lnTo>
                  <a:pt x="587906" y="744185"/>
                </a:lnTo>
                <a:lnTo>
                  <a:pt x="0" y="74418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567399" y="3167813"/>
            <a:ext cx="779350" cy="779350"/>
          </a:xfrm>
          <a:custGeom>
            <a:avLst/>
            <a:gdLst/>
            <a:ahLst/>
            <a:cxnLst/>
            <a:rect r="r" b="b" t="t" l="l"/>
            <a:pathLst>
              <a:path h="779350" w="779350">
                <a:moveTo>
                  <a:pt x="0" y="0"/>
                </a:moveTo>
                <a:lnTo>
                  <a:pt x="779350" y="0"/>
                </a:lnTo>
                <a:lnTo>
                  <a:pt x="779350" y="779349"/>
                </a:lnTo>
                <a:lnTo>
                  <a:pt x="0" y="77934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1963147" y="4375077"/>
            <a:ext cx="687297" cy="683860"/>
          </a:xfrm>
          <a:custGeom>
            <a:avLst/>
            <a:gdLst/>
            <a:ahLst/>
            <a:cxnLst/>
            <a:rect r="r" b="b" t="t" l="l"/>
            <a:pathLst>
              <a:path h="683860" w="687297">
                <a:moveTo>
                  <a:pt x="0" y="0"/>
                </a:moveTo>
                <a:lnTo>
                  <a:pt x="687297" y="0"/>
                </a:lnTo>
                <a:lnTo>
                  <a:pt x="687297" y="683860"/>
                </a:lnTo>
                <a:lnTo>
                  <a:pt x="0" y="68386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1913725" y="3224358"/>
            <a:ext cx="686664" cy="722805"/>
          </a:xfrm>
          <a:custGeom>
            <a:avLst/>
            <a:gdLst/>
            <a:ahLst/>
            <a:cxnLst/>
            <a:rect r="r" b="b" t="t" l="l"/>
            <a:pathLst>
              <a:path h="722805" w="686664">
                <a:moveTo>
                  <a:pt x="0" y="0"/>
                </a:moveTo>
                <a:lnTo>
                  <a:pt x="686664" y="0"/>
                </a:lnTo>
                <a:lnTo>
                  <a:pt x="686664" y="722804"/>
                </a:lnTo>
                <a:lnTo>
                  <a:pt x="0" y="72280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577998" y="4375077"/>
            <a:ext cx="768750" cy="707250"/>
          </a:xfrm>
          <a:custGeom>
            <a:avLst/>
            <a:gdLst/>
            <a:ahLst/>
            <a:cxnLst/>
            <a:rect r="r" b="b" t="t" l="l"/>
            <a:pathLst>
              <a:path h="707250" w="768750">
                <a:moveTo>
                  <a:pt x="0" y="0"/>
                </a:moveTo>
                <a:lnTo>
                  <a:pt x="768751" y="0"/>
                </a:lnTo>
                <a:lnTo>
                  <a:pt x="768751" y="707250"/>
                </a:lnTo>
                <a:lnTo>
                  <a:pt x="0" y="70725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8" id="58"/>
          <p:cNvSpPr txBox="true"/>
          <p:nvPr/>
        </p:nvSpPr>
        <p:spPr>
          <a:xfrm rot="0">
            <a:off x="1714390" y="4778954"/>
            <a:ext cx="452982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9"/>
              </a:lnSpc>
            </a:pPr>
            <a:r>
              <a:rPr lang="en-US" sz="1491">
                <a:solidFill>
                  <a:srgbClr val="5268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 roles for Government, Startups, Experts, Admin and Citizens with defined workflows.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714390" y="5959454"/>
            <a:ext cx="452982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9"/>
              </a:lnSpc>
            </a:pPr>
            <a:r>
              <a:rPr lang="en-US" sz="1491">
                <a:solidFill>
                  <a:srgbClr val="5268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documents, government challenge data and startup submissions can be securely stored with audit logs.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714390" y="5616554"/>
            <a:ext cx="452982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5"/>
              </a:lnSpc>
            </a:pPr>
            <a:r>
              <a:rPr lang="en-US" sz="1896" b="true">
                <a:solidFill>
                  <a:srgbClr val="1C304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Feasible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2277856" y="2072194"/>
            <a:ext cx="258068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277856" y="2588724"/>
            <a:ext cx="317165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1"/>
              </a:lnSpc>
            </a:pPr>
            <a:r>
              <a:rPr lang="en-US" sz="16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we build and implement it?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714390" y="3232037"/>
            <a:ext cx="452982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5"/>
              </a:lnSpc>
            </a:pPr>
            <a:r>
              <a:rPr lang="en-US" sz="1896" b="true">
                <a:solidFill>
                  <a:srgbClr val="1C304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Technically Feasible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722706" y="3527312"/>
            <a:ext cx="4529823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9"/>
              </a:lnSpc>
            </a:pPr>
            <a:r>
              <a:rPr lang="en-US" sz="1491">
                <a:solidFill>
                  <a:srgbClr val="5268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Open-source and proven technologies: React/Typescript, Node.js, PostgreSQL + pgvector, LlamaIndex and Gemini APIs.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714390" y="4460762"/>
            <a:ext cx="452982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5"/>
              </a:lnSpc>
            </a:pPr>
            <a:r>
              <a:rPr lang="en-US" sz="1896" b="true">
                <a:solidFill>
                  <a:srgbClr val="1C304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Operationally Feasible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714390" y="6773537"/>
            <a:ext cx="452982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5"/>
              </a:lnSpc>
            </a:pPr>
            <a:r>
              <a:rPr lang="en-US" sz="1896" b="true">
                <a:solidFill>
                  <a:srgbClr val="1C304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 Feasible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714390" y="7139954"/>
            <a:ext cx="452982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9"/>
              </a:lnSpc>
            </a:pPr>
            <a:r>
              <a:rPr lang="en-US" sz="1491">
                <a:solidFill>
                  <a:srgbClr val="5268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Modular, API-first and prototype-ready design enables phased development.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841458" y="7882904"/>
            <a:ext cx="3058011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5"/>
              </a:lnSpc>
            </a:pPr>
            <a:r>
              <a:rPr lang="en-US" sz="2079" b="true">
                <a:solidFill>
                  <a:srgbClr val="12376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 have what it takes. </a:t>
            </a:r>
          </a:p>
          <a:p>
            <a:pPr algn="ctr">
              <a:lnSpc>
                <a:spcPts val="2495"/>
              </a:lnSpc>
            </a:pPr>
            <a:r>
              <a:rPr lang="en-US" sz="2079" b="true">
                <a:solidFill>
                  <a:srgbClr val="12376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building blocks exist.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4032851" y="2129559"/>
            <a:ext cx="213550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VIABILITY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607186" y="2600831"/>
            <a:ext cx="468081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1"/>
              </a:lnSpc>
            </a:pPr>
            <a:r>
              <a:rPr lang="en-US" sz="16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it be adopted, operated and scaled?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2905075" y="3232037"/>
            <a:ext cx="452982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5"/>
              </a:lnSpc>
            </a:pPr>
            <a:r>
              <a:rPr lang="en-US" sz="1896" b="true">
                <a:solidFill>
                  <a:srgbClr val="1C304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High Adoption Potential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2875666" y="3536175"/>
            <a:ext cx="452982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9"/>
              </a:lnSpc>
            </a:pPr>
            <a:r>
              <a:rPr lang="en-US" sz="1590">
                <a:solidFill>
                  <a:srgbClr val="5268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Solves real government problems and gives startups a clear path from pilot to procurement.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875666" y="4412207"/>
            <a:ext cx="452982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5"/>
              </a:lnSpc>
            </a:pPr>
            <a:r>
              <a:rPr lang="en-US" sz="1896" b="true">
                <a:solidFill>
                  <a:srgbClr val="1C304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Cost-Effective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2875666" y="4716666"/>
            <a:ext cx="452982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9"/>
              </a:lnSpc>
            </a:pPr>
            <a:r>
              <a:rPr lang="en-US" sz="1590">
                <a:solidFill>
                  <a:srgbClr val="5268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existing infrastructure and open-source tools to reduce development and operational costs.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2914278" y="5535816"/>
            <a:ext cx="452982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5"/>
              </a:lnSpc>
            </a:pPr>
            <a:r>
              <a:rPr lang="en-US" sz="1896" b="true">
                <a:solidFill>
                  <a:srgbClr val="1C304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Scalable Model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2875666" y="5897166"/>
            <a:ext cx="452982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9"/>
              </a:lnSpc>
            </a:pPr>
            <a:r>
              <a:rPr lang="en-US" sz="1590">
                <a:solidFill>
                  <a:srgbClr val="5268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Modular, cloud-ready and replicable across departments and states.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2905075" y="6773466"/>
            <a:ext cx="452982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5"/>
              </a:lnSpc>
            </a:pPr>
            <a:r>
              <a:rPr lang="en-US" sz="1896" b="true">
                <a:solidFill>
                  <a:srgbClr val="1C304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Long-Term Value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2875666" y="7077666"/>
            <a:ext cx="452982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9"/>
              </a:lnSpc>
            </a:pPr>
            <a:r>
              <a:rPr lang="en-US" sz="1590">
                <a:solidFill>
                  <a:srgbClr val="5268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public service delivery and creates measurable social and economic impact.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070686" y="9146200"/>
            <a:ext cx="130403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BUILD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4186647" y="9146200"/>
            <a:ext cx="130403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PILOT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7755598" y="9146200"/>
            <a:ext cx="130403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SCALE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0981382" y="9146200"/>
            <a:ext cx="130403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3030181" y="7985603"/>
            <a:ext cx="3058011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5"/>
              </a:lnSpc>
            </a:pPr>
            <a:r>
              <a:rPr lang="en-US" sz="2079" b="true">
                <a:solidFill>
                  <a:srgbClr val="12376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Not just possible.</a:t>
            </a:r>
          </a:p>
          <a:p>
            <a:pPr algn="ctr">
              <a:lnSpc>
                <a:spcPts val="2495"/>
              </a:lnSpc>
            </a:pPr>
            <a:r>
              <a:rPr lang="en-US" sz="2079" b="true">
                <a:solidFill>
                  <a:srgbClr val="12376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Built for long-term impact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5379989" y="9222286"/>
            <a:ext cx="130403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PILOT</a:t>
            </a:r>
          </a:p>
        </p:txBody>
      </p:sp>
      <p:sp>
        <p:nvSpPr>
          <p:cNvPr name="Freeform 85" id="85">
            <a:hlinkClick r:id="rId24" tooltip="https://lazycoder-s-portfolio.onrender.com"/>
          </p:cNvPr>
          <p:cNvSpPr/>
          <p:nvPr/>
        </p:nvSpPr>
        <p:spPr>
          <a:xfrm flipH="false" flipV="false" rot="0">
            <a:off x="28324" y="56649"/>
            <a:ext cx="1245095" cy="1245095"/>
          </a:xfrm>
          <a:custGeom>
            <a:avLst/>
            <a:gdLst/>
            <a:ahLst/>
            <a:cxnLst/>
            <a:rect r="r" b="b" t="t" l="l"/>
            <a:pathLst>
              <a:path h="1245095" w="1245095">
                <a:moveTo>
                  <a:pt x="0" y="0"/>
                </a:moveTo>
                <a:lnTo>
                  <a:pt x="1245096" y="0"/>
                </a:lnTo>
                <a:lnTo>
                  <a:pt x="1245096" y="1245095"/>
                </a:lnTo>
                <a:lnTo>
                  <a:pt x="0" y="124509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51818" y="-410508"/>
            <a:ext cx="9246965" cy="1714500"/>
            <a:chOff x="0" y="0"/>
            <a:chExt cx="12329286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329286" cy="2286000"/>
            </a:xfrm>
            <a:custGeom>
              <a:avLst/>
              <a:gdLst/>
              <a:ahLst/>
              <a:cxnLst/>
              <a:rect r="r" b="b" t="t" l="l"/>
              <a:pathLst>
                <a:path h="2286000" w="12329286">
                  <a:moveTo>
                    <a:pt x="0" y="0"/>
                  </a:moveTo>
                  <a:lnTo>
                    <a:pt x="12329286" y="0"/>
                  </a:lnTo>
                  <a:lnTo>
                    <a:pt x="12329286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834" r="0" b="-8483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2329286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476669" y="1301744"/>
            <a:ext cx="16578953" cy="8172362"/>
          </a:xfrm>
          <a:custGeom>
            <a:avLst/>
            <a:gdLst/>
            <a:ahLst/>
            <a:cxnLst/>
            <a:rect r="r" b="b" t="t" l="l"/>
            <a:pathLst>
              <a:path h="8172362" w="16578953">
                <a:moveTo>
                  <a:pt x="0" y="0"/>
                </a:moveTo>
                <a:lnTo>
                  <a:pt x="16578953" y="0"/>
                </a:lnTo>
                <a:lnTo>
                  <a:pt x="16578953" y="8172362"/>
                </a:lnTo>
                <a:lnTo>
                  <a:pt x="0" y="81723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8426" r="0" b="-16817"/>
            </a:stretch>
          </a:blipFill>
        </p:spPr>
      </p:sp>
      <p:sp>
        <p:nvSpPr>
          <p:cNvPr name="Freeform 16" id="16">
            <a:hlinkClick r:id="rId7" tooltip="https://lazycoder-s-portfolio.onrender.com"/>
          </p:cNvPr>
          <p:cNvSpPr/>
          <p:nvPr/>
        </p:nvSpPr>
        <p:spPr>
          <a:xfrm flipH="false" flipV="false" rot="0">
            <a:off x="28324" y="56649"/>
            <a:ext cx="1245095" cy="1245095"/>
          </a:xfrm>
          <a:custGeom>
            <a:avLst/>
            <a:gdLst/>
            <a:ahLst/>
            <a:cxnLst/>
            <a:rect r="r" b="b" t="t" l="l"/>
            <a:pathLst>
              <a:path h="1245095" w="1245095">
                <a:moveTo>
                  <a:pt x="0" y="0"/>
                </a:moveTo>
                <a:lnTo>
                  <a:pt x="1245096" y="0"/>
                </a:lnTo>
                <a:lnTo>
                  <a:pt x="1245096" y="1245095"/>
                </a:lnTo>
                <a:lnTo>
                  <a:pt x="0" y="12450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689799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433582" y="-412756"/>
            <a:ext cx="11236547" cy="1714500"/>
            <a:chOff x="0" y="0"/>
            <a:chExt cx="14982063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982062" cy="2286000"/>
            </a:xfrm>
            <a:custGeom>
              <a:avLst/>
              <a:gdLst/>
              <a:ahLst/>
              <a:cxnLst/>
              <a:rect r="r" b="b" t="t" l="l"/>
              <a:pathLst>
                <a:path h="2286000" w="14982062">
                  <a:moveTo>
                    <a:pt x="0" y="0"/>
                  </a:moveTo>
                  <a:lnTo>
                    <a:pt x="14982062" y="0"/>
                  </a:lnTo>
                  <a:lnTo>
                    <a:pt x="14982062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845" r="0" b="-1138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4982063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692180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692180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159903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5" id="15">
            <a:hlinkClick r:id="rId6" tooltip="https://github.com/deotareatharva-hub/GovInnovation-Prototype"/>
          </p:cNvPr>
          <p:cNvSpPr/>
          <p:nvPr/>
        </p:nvSpPr>
        <p:spPr>
          <a:xfrm flipH="false" flipV="false" rot="0">
            <a:off x="6327285" y="7248926"/>
            <a:ext cx="1801449" cy="1801449"/>
          </a:xfrm>
          <a:custGeom>
            <a:avLst/>
            <a:gdLst/>
            <a:ahLst/>
            <a:cxnLst/>
            <a:rect r="r" b="b" t="t" l="l"/>
            <a:pathLst>
              <a:path h="1801449" w="1801449">
                <a:moveTo>
                  <a:pt x="0" y="0"/>
                </a:moveTo>
                <a:lnTo>
                  <a:pt x="1801448" y="0"/>
                </a:lnTo>
                <a:lnTo>
                  <a:pt x="1801448" y="1801448"/>
                </a:lnTo>
                <a:lnTo>
                  <a:pt x="0" y="18014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>
            <a:hlinkClick r:id="rId8" tooltip="https://docs.google.com/document/d/1Rz0F5dO9EFZV1S-7FZeMsmbT5QkxaS8h/edit?usp=sharing&amp;ouid=113236038995270870263&amp;rtpof=true&amp;sd=true"/>
          </p:cNvPr>
          <p:cNvSpPr/>
          <p:nvPr/>
        </p:nvSpPr>
        <p:spPr>
          <a:xfrm flipH="false" flipV="false" rot="0">
            <a:off x="8433533" y="7166840"/>
            <a:ext cx="1883534" cy="1883534"/>
          </a:xfrm>
          <a:custGeom>
            <a:avLst/>
            <a:gdLst/>
            <a:ahLst/>
            <a:cxnLst/>
            <a:rect r="r" b="b" t="t" l="l"/>
            <a:pathLst>
              <a:path h="1883534" w="1883534">
                <a:moveTo>
                  <a:pt x="0" y="0"/>
                </a:moveTo>
                <a:lnTo>
                  <a:pt x="1883534" y="0"/>
                </a:lnTo>
                <a:lnTo>
                  <a:pt x="1883534" y="1883534"/>
                </a:lnTo>
                <a:lnTo>
                  <a:pt x="0" y="18835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>
            <a:hlinkClick r:id="rId10" tooltip="https://lazycoder-s-portfolio.onrender.com"/>
          </p:cNvPr>
          <p:cNvSpPr/>
          <p:nvPr/>
        </p:nvSpPr>
        <p:spPr>
          <a:xfrm flipH="false" flipV="false" rot="0">
            <a:off x="28324" y="56649"/>
            <a:ext cx="1245095" cy="1245095"/>
          </a:xfrm>
          <a:custGeom>
            <a:avLst/>
            <a:gdLst/>
            <a:ahLst/>
            <a:cxnLst/>
            <a:rect r="r" b="b" t="t" l="l"/>
            <a:pathLst>
              <a:path h="1245095" w="1245095">
                <a:moveTo>
                  <a:pt x="0" y="0"/>
                </a:moveTo>
                <a:lnTo>
                  <a:pt x="1245096" y="0"/>
                </a:lnTo>
                <a:lnTo>
                  <a:pt x="1245096" y="1245095"/>
                </a:lnTo>
                <a:lnTo>
                  <a:pt x="0" y="12450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>
            <a:hlinkClick r:id="rId12" tooltip="https://gov-innovation-prototype.vercel.app"/>
          </p:cNvPr>
          <p:cNvSpPr/>
          <p:nvPr/>
        </p:nvSpPr>
        <p:spPr>
          <a:xfrm flipH="false" flipV="false" rot="0">
            <a:off x="10623649" y="6973164"/>
            <a:ext cx="2309302" cy="2142579"/>
          </a:xfrm>
          <a:custGeom>
            <a:avLst/>
            <a:gdLst/>
            <a:ahLst/>
            <a:cxnLst/>
            <a:rect r="r" b="b" t="t" l="l"/>
            <a:pathLst>
              <a:path h="2142579" w="2309302">
                <a:moveTo>
                  <a:pt x="0" y="0"/>
                </a:moveTo>
                <a:lnTo>
                  <a:pt x="2309303" y="0"/>
                </a:lnTo>
                <a:lnTo>
                  <a:pt x="2309303" y="2142578"/>
                </a:lnTo>
                <a:lnTo>
                  <a:pt x="0" y="214257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25008" y="1991270"/>
            <a:ext cx="349203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0872" y="2543720"/>
            <a:ext cx="15389202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7142" indent="-243571" lvl="1">
              <a:lnSpc>
                <a:spcPts val="2707"/>
              </a:lnSpc>
              <a:buFont typeface="Arial"/>
              <a:buChar char="•"/>
            </a:pPr>
            <a:r>
              <a:rPr lang="en-US" sz="2256" u="sng">
                <a:solidFill>
                  <a:srgbClr val="1C304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3" tooltip="https://msins.in"/>
              </a:rPr>
              <a:t>Maharashtra State Innovation Society (MSInS)</a:t>
            </a:r>
            <a:r>
              <a:rPr lang="en-US" sz="2256">
                <a:solidFill>
                  <a:srgbClr val="1C30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</a:t>
            </a:r>
            <a:r>
              <a:rPr lang="en-US" sz="2256" u="sng">
                <a:solidFill>
                  <a:srgbClr val="1C304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4" tooltip="https://msins.in"/>
              </a:rPr>
              <a:t>https://msins.in/</a:t>
            </a:r>
          </a:p>
          <a:p>
            <a:pPr algn="l" marL="487142" indent="-243571" lvl="1">
              <a:lnSpc>
                <a:spcPts val="2707"/>
              </a:lnSpc>
              <a:buFont typeface="Arial"/>
              <a:buChar char="•"/>
            </a:pPr>
            <a:r>
              <a:rPr lang="en-US" sz="2256">
                <a:solidFill>
                  <a:srgbClr val="1C30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for Procurement of Goods – 2024 — </a:t>
            </a:r>
            <a:r>
              <a:rPr lang="en-US" sz="2256" u="sng">
                <a:solidFill>
                  <a:srgbClr val="1C304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5" tooltip="https://doe.gov.in/manuals?utm_source=chatgpt.com"/>
              </a:rPr>
              <a:t>https://doe.gov.in/manuals</a:t>
            </a:r>
          </a:p>
          <a:p>
            <a:pPr algn="l" marL="487142" indent="-243571" lvl="1">
              <a:lnSpc>
                <a:spcPts val="2707"/>
              </a:lnSpc>
              <a:buFont typeface="Arial"/>
              <a:buChar char="•"/>
            </a:pPr>
            <a:r>
              <a:rPr lang="en-US" sz="2256" u="sng">
                <a:solidFill>
                  <a:srgbClr val="1C30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Financial Rules (GFR), 2017 — </a:t>
            </a:r>
            <a:r>
              <a:rPr lang="en-US" sz="2256" u="sng">
                <a:solidFill>
                  <a:srgbClr val="1C304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6" tooltip="https://doe.gov.in/bi-annual-compilationupdation-general-financial-rules-2017-upto-31012026general-financial-rules?utm_source=chatgpt.com"/>
              </a:rPr>
              <a:t>https://doe.gov.in/bi-annual-compilationupdation-general-financial-rules-2017-upto-31012026general-financial-rule</a:t>
            </a:r>
            <a:r>
              <a:rPr lang="en-US" sz="2256">
                <a:solidFill>
                  <a:srgbClr val="1C30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lang="en-US" sz="2256">
                <a:solidFill>
                  <a:srgbClr val="1C30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 marL="487142" indent="-243571" lvl="1">
              <a:lnSpc>
                <a:spcPts val="2707"/>
              </a:lnSpc>
              <a:buFont typeface="Arial"/>
              <a:buChar char="•"/>
            </a:pPr>
            <a:r>
              <a:rPr lang="en-US" sz="2256">
                <a:solidFill>
                  <a:srgbClr val="1C30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Startup India – Public Procurement — </a:t>
            </a:r>
            <a:r>
              <a:rPr lang="en-US" sz="2256" u="sng">
                <a:solidFill>
                  <a:srgbClr val="1C304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7" tooltip="https://www.startupindia.gov.in/content/sih/en/public_procurement.html?utm_source=chatgpt.com"/>
              </a:rPr>
              <a:t>https://www.startupindia.gov.in/content/sih/en/public_procurement.htm</a:t>
            </a:r>
            <a:r>
              <a:rPr lang="en-US" sz="2256">
                <a:solidFill>
                  <a:srgbClr val="1C30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</a:p>
          <a:p>
            <a:pPr algn="l" marL="487142" indent="-243571" lvl="1">
              <a:lnSpc>
                <a:spcPts val="2707"/>
              </a:lnSpc>
              <a:buFont typeface="Arial"/>
              <a:buChar char="•"/>
            </a:pPr>
            <a:r>
              <a:rPr lang="en-US" sz="2256" u="sng">
                <a:solidFill>
                  <a:srgbClr val="1C304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8" tooltip="https://gem.gov.in"/>
              </a:rPr>
              <a:t>GeM— https://gem.gov.in/</a:t>
            </a:r>
          </a:p>
          <a:p>
            <a:pPr algn="l">
              <a:lnSpc>
                <a:spcPts val="2707"/>
              </a:lnSpc>
            </a:pPr>
          </a:p>
          <a:p>
            <a:pPr algn="l">
              <a:lnSpc>
                <a:spcPts val="2707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589707" y="4772025"/>
            <a:ext cx="376159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RESEARCH PAPER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0872" y="5296764"/>
            <a:ext cx="16669593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0094" indent="-245047" lvl="1">
              <a:lnSpc>
                <a:spcPts val="2724"/>
              </a:lnSpc>
              <a:buFont typeface="Arial"/>
              <a:buChar char="•"/>
            </a:pPr>
            <a:r>
              <a:rPr lang="en-US" sz="2270">
                <a:solidFill>
                  <a:srgbClr val="0302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Strengthening Startup Engagement in Public Procurement: An Incubator-Led Approach to GeM Enablement in India- </a:t>
            </a:r>
            <a:r>
              <a:rPr lang="en-US" sz="2270" u="sng">
                <a:solidFill>
                  <a:srgbClr val="03020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9" tooltip="https://papers.ssrn.com/sol3/papers.cfm?abstract_id=6530078"/>
              </a:rPr>
              <a:t>https://papers.ssrn.com/sol3/papers.cfm?abstract_id=6530078</a:t>
            </a:r>
          </a:p>
          <a:p>
            <a:pPr algn="l" marL="490094" indent="-245047" lvl="1">
              <a:lnSpc>
                <a:spcPts val="2724"/>
              </a:lnSpc>
              <a:buFont typeface="Arial"/>
              <a:buChar char="•"/>
            </a:pPr>
            <a:r>
              <a:rPr lang="en-US" sz="2270">
                <a:solidFill>
                  <a:srgbClr val="0302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Recent Advances in Public Procurement: An Exploration of the Government e-Marketplace in India--</a:t>
            </a:r>
            <a:r>
              <a:rPr lang="en-US" sz="2270" u="sng">
                <a:solidFill>
                  <a:srgbClr val="03020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0" tooltip="https://onlinelibrary.wiley.com/doi/abs/10.1002/pad.2113"/>
              </a:rPr>
              <a:t>https://onlinelibrary.wiley.com/doi/abs/10.1002/pad.2113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504159" y="9058592"/>
            <a:ext cx="1447701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GitHub  Repo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013549" y="9058592"/>
            <a:ext cx="723503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Report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271342" y="9058592"/>
            <a:ext cx="1013916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Prototype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DAHUseFtFEY</dc:identifier>
  <dcterms:modified xsi:type="dcterms:W3CDTF">2011-08-01T06:04:30Z</dcterms:modified>
  <cp:revision>1</cp:revision>
  <dc:title>Problem Statement ID – Problem Statement Title- Theme- PS Category- Software/Hardware Team ID- Team Name (Registered on portal)</dc:title>
</cp:coreProperties>
</file>